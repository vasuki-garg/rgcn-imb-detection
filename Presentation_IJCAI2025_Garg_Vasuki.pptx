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8" r:id="rId3"/>
    <p:sldId id="299" r:id="rId4"/>
    <p:sldId id="259" r:id="rId5"/>
    <p:sldId id="289" r:id="rId6"/>
    <p:sldId id="283" r:id="rId7"/>
    <p:sldId id="263" r:id="rId8"/>
    <p:sldId id="267" r:id="rId9"/>
    <p:sldId id="261" r:id="rId10"/>
    <p:sldId id="285" r:id="rId11"/>
    <p:sldId id="293" r:id="rId12"/>
    <p:sldId id="286" r:id="rId13"/>
    <p:sldId id="268" r:id="rId14"/>
    <p:sldId id="270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2" roundtripDataSignature="AMtx7mhFYo0wF0VPzKNS8pjJl6r1gpIy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FB98"/>
    <a:srgbClr val="FB8072"/>
    <a:srgbClr val="E90004"/>
    <a:srgbClr val="C10000"/>
    <a:srgbClr val="6969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2BCAAC-4C9D-45B1-B77F-283C58D4C818}">
  <a:tblStyle styleId="{0F2BCAAC-4C9D-45B1-B77F-283C58D4C8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7DBCF83-21FD-4F45-A0B1-3DE94727EB93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DBE627B-8976-4D91-9ED6-DD5DD6245BFF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D3A42CD-01B5-4580-8B50-0181BD038A28}" styleName="Table_3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4F950A5-0844-4FB3-BD0D-A7198C19A67F}" styleName="Table_4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33"/>
    <p:restoredTop sz="70748"/>
  </p:normalViewPr>
  <p:slideViewPr>
    <p:cSldViewPr snapToGrid="0">
      <p:cViewPr varScale="1">
        <p:scale>
          <a:sx n="118" d="100"/>
          <a:sy n="118" d="100"/>
        </p:scale>
        <p:origin x="1840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1744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112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11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1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11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53D9031-1D73-71B1-A410-7466C416FC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26040E-EE35-6DEA-F314-2EF8E0D0A9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365372-4C43-A841-9AA8-44D416FA7697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D0862E-3ADA-6DAD-EF02-5213ED7E35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8EA03B-5401-9EB5-AA12-A4350E3308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3DFC2E-B0F8-B04A-A4BA-6B439307D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657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8" name="Google Shape;7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9318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45C2D-6B49-9D09-62E2-2A786F8FF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E46B1-ADF6-B41B-21C5-E015A2B42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39A81-4CEF-9715-D45A-33269D48C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6A4AE-B159-6A9B-F5A6-42368BA35E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655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7194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11DB0-A4CB-CBAB-2958-A6B3919E7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0F720F-A2C9-3361-1A8B-7ED791E6F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08854-FCD7-0942-7674-D798E1D7F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4390B-A44C-8C4C-1FE6-0252F179F6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0288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D2CD5-A844-4441-34D8-BC4BB920B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582189-0F56-0946-A800-523C2F76E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8A1471-4BB1-D480-E31B-24667D93F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A74BA-6031-A9FC-15E7-0E4C685D34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4740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lang="en-US" dirty="0"/>
                  <a:t>Objective </a:t>
                </a:r>
                <a:r>
                  <a:rPr lang="en-US" dirty="0" err="1"/>
                  <a:t>func</a:t>
                </a:r>
                <a:r>
                  <a:rPr lang="en-US" dirty="0"/>
                  <a:t> formulation</a:t>
                </a:r>
              </a:p>
              <a:p>
                <a:pPr marL="4572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lang="en-US" dirty="0"/>
              </a:p>
              <a:p>
                <a:pPr marL="4572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lang="en-US" dirty="0" err="1"/>
                  <a:t>i</a:t>
                </a:r>
                <a:r>
                  <a:rPr lang="en-US" dirty="0"/>
                  <a:t>: </a:t>
                </a:r>
                <a:r>
                  <a:rPr lang="en-US" dirty="0" err="1"/>
                  <a:t>obser</a:t>
                </a:r>
                <a:endParaRPr lang="en-US" dirty="0"/>
              </a:p>
              <a:p>
                <a:pPr marL="4572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lang="en-US" dirty="0"/>
                  <a:t>D: features</a:t>
                </a:r>
              </a:p>
              <a:p>
                <a:pPr marL="4572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lang="en-US" dirty="0"/>
              </a:p>
              <a:p>
                <a:pPr marL="4572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lang="en-US" sz="12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The Lattice Cutting Plane Algorithm (LCPA) by </a:t>
                </a:r>
                <a:r>
                  <a:rPr lang="en-US" sz="1200" dirty="0" err="1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Ustun</a:t>
                </a:r>
                <a:r>
                  <a:rPr lang="en-US" sz="12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and Rudin is a branc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h and bound algorithm that</a:t>
                </a:r>
                <a:r>
                  <a:rPr lang="en-US" sz="12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recursively splits the feasible region ℒ and optimizes a linear approximation of the loss function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𝑙(</a:t>
                </a:r>
                <a:r>
                  <a:rPr lang="en-US" sz="1200" i="0">
                    <a:latin typeface="Cambria Math" panose="02040503050406030204" pitchFamily="18" charset="0"/>
                  </a:rPr>
                  <a:t>𝜆)</a:t>
                </a:r>
                <a:r>
                  <a:rPr lang="en-US" sz="12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at each node,</a:t>
                </a:r>
                <a:endParaRPr lang="en-US" dirty="0"/>
              </a:p>
              <a:p>
                <a:pPr marL="4572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lang="en-US" dirty="0"/>
              </a:p>
              <a:p>
                <a:pPr marL="4572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lang="en-US" dirty="0"/>
                  <a:t>Further, </a:t>
                </a:r>
                <a:r>
                  <a:rPr lang="en-US" i="1" dirty="0">
                    <a:effectLst/>
                    <a:latin typeface="Times"/>
                  </a:rPr>
                  <a:t>l0-norm is non-differentiable and non-convex.</a:t>
                </a:r>
                <a:endParaRPr lang="en-US" dirty="0">
                  <a:effectLst/>
                  <a:latin typeface="Times"/>
                </a:endParaRPr>
              </a:p>
              <a:p>
                <a:r>
                  <a:rPr lang="en-US" i="1" dirty="0">
                    <a:effectLst/>
                    <a:latin typeface="Times"/>
                  </a:rPr>
                  <a:t>Two important attributes of a risk prediction model are</a:t>
                </a:r>
                <a:endParaRPr lang="en-US" dirty="0">
                  <a:effectLst/>
                  <a:latin typeface="Times"/>
                </a:endParaRPr>
              </a:p>
              <a:p>
                <a:r>
                  <a:rPr lang="en-US" i="1" dirty="0">
                    <a:effectLst/>
                    <a:latin typeface="Times"/>
                  </a:rPr>
                  <a:t>risk calibration and rank accuracy. A well calibrated model</a:t>
                </a:r>
                <a:endParaRPr lang="en-US" dirty="0">
                  <a:effectLst/>
                  <a:latin typeface="Times"/>
                </a:endParaRPr>
              </a:p>
              <a:p>
                <a:r>
                  <a:rPr lang="en-US" i="1" dirty="0">
                    <a:effectLst/>
                    <a:latin typeface="Times"/>
                  </a:rPr>
                  <a:t>provides predictions that are similar to the observed risk,</a:t>
                </a:r>
                <a:endParaRPr lang="en-US" dirty="0">
                  <a:effectLst/>
                  <a:latin typeface="Times"/>
                </a:endParaRPr>
              </a:p>
              <a:p>
                <a:r>
                  <a:rPr lang="en-US" i="1" dirty="0">
                    <a:effectLst/>
                    <a:latin typeface="Times"/>
                  </a:rPr>
                  <a:t>and a rank-accurate model provides predictions that correctly</a:t>
                </a:r>
                <a:endParaRPr lang="en-US" dirty="0">
                  <a:effectLst/>
                  <a:latin typeface="Times"/>
                </a:endParaRPr>
              </a:p>
              <a:p>
                <a:r>
                  <a:rPr lang="en-US" i="1" dirty="0">
                    <a:effectLst/>
                    <a:latin typeface="Times"/>
                  </a:rPr>
                  <a:t>rank the observations according to their true labels.</a:t>
                </a:r>
              </a:p>
              <a:p>
                <a:endParaRPr lang="en-US" i="1" dirty="0">
                  <a:effectLst/>
                  <a:latin typeface="Times"/>
                </a:endParaRPr>
              </a:p>
              <a:p>
                <a:r>
                  <a:rPr lang="en-US" i="1" dirty="0">
                    <a:effectLst/>
                    <a:latin typeface="Times"/>
                  </a:rPr>
                  <a:t>We keep 10 = max features</a:t>
                </a:r>
              </a:p>
              <a:p>
                <a:r>
                  <a:rPr lang="en-US" i="1" dirty="0">
                    <a:effectLst/>
                    <a:latin typeface="Times"/>
                  </a:rPr>
                  <a:t>Max </a:t>
                </a:r>
                <a:r>
                  <a:rPr lang="en-US" i="1" dirty="0" err="1">
                    <a:effectLst/>
                    <a:latin typeface="Times"/>
                  </a:rPr>
                  <a:t>coedd</a:t>
                </a:r>
                <a:r>
                  <a:rPr lang="en-US" i="1" dirty="0">
                    <a:effectLst/>
                    <a:latin typeface="Times"/>
                  </a:rPr>
                  <a:t> value of -5, </a:t>
                </a:r>
                <a:endParaRPr lang="en-US" dirty="0">
                  <a:effectLst/>
                  <a:latin typeface="Times"/>
                </a:endParaRP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9249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8331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93811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E68B2-198E-5514-2386-DBFFEAF52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EB68D8-0B1A-2795-06F4-AB0563AE7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EE76EE-5EAF-19B4-D27B-B6CC3125DA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874FA-32DE-2A8C-5F6B-71F1D2AF4C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44554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F7673-0F48-6AEC-DEAF-A3239E30F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365F51-4890-2084-9107-2F1296B14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54B44-3F9A-496B-8C44-753883001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FFC1A-35C7-005A-D11D-B11C7D8C21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99833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1791F-10E2-31D1-78C7-026C4C451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A3F6D4-CA36-7DA9-3802-B0F7CFBEF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0E9FCE-202B-B8AF-334B-0418BE44F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190A5-F7AA-AB61-B15E-21A7678340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78206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B2C18-9397-6672-6F1F-1A7D80FF4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BB57CF-E1C4-4E72-72F5-1F5E1EA6C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87B20F-4A83-DBDB-65A7-AD6F72201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6398" lvl="0" indent="0" algn="just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52"/>
              <a:buNone/>
            </a:pP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E1287-A7B1-97C1-DF01-146E343727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14332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0133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3"/>
          <p:cNvSpPr txBox="1">
            <a:spLocks noGrp="1"/>
          </p:cNvSpPr>
          <p:nvPr>
            <p:ph type="title"/>
          </p:nvPr>
        </p:nvSpPr>
        <p:spPr>
          <a:xfrm>
            <a:off x="457200" y="888711"/>
            <a:ext cx="8229600" cy="516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body" idx="1"/>
          </p:nvPr>
        </p:nvSpPr>
        <p:spPr>
          <a:xfrm>
            <a:off x="457200" y="1608667"/>
            <a:ext cx="822960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5" name="Google Shape;25;p23"/>
          <p:cNvSpPr txBox="1">
            <a:spLocks noGrp="1"/>
          </p:cNvSpPr>
          <p:nvPr>
            <p:ph type="dt" idx="10"/>
          </p:nvPr>
        </p:nvSpPr>
        <p:spPr>
          <a:xfrm>
            <a:off x="457199" y="4767264"/>
            <a:ext cx="384386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Vasuki Garg, Dr. Maria Mayorga, Dr. Osman Ozaltin</a:t>
            </a:r>
            <a:endParaRPr dirty="0"/>
          </a:p>
        </p:txBody>
      </p:sp>
      <p:sp>
        <p:nvSpPr>
          <p:cNvPr id="26" name="Google Shape;26;p23"/>
          <p:cNvSpPr txBox="1">
            <a:spLocks noGrp="1"/>
          </p:cNvSpPr>
          <p:nvPr>
            <p:ph type="ftr" idx="11"/>
          </p:nvPr>
        </p:nvSpPr>
        <p:spPr>
          <a:xfrm>
            <a:off x="4440766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Project Title</a:t>
            </a:r>
          </a:p>
          <a:p>
            <a:endParaRPr lang="en-US" dirty="0"/>
          </a:p>
        </p:txBody>
      </p:sp>
      <p:sp>
        <p:nvSpPr>
          <p:cNvPr id="27" name="Google Shape;27;p23"/>
          <p:cNvSpPr txBox="1">
            <a:spLocks noGrp="1"/>
          </p:cNvSpPr>
          <p:nvPr>
            <p:ph type="sldNum" idx="12"/>
          </p:nvPr>
        </p:nvSpPr>
        <p:spPr>
          <a:xfrm>
            <a:off x="7476066" y="4767264"/>
            <a:ext cx="121073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457200" y="1040843"/>
            <a:ext cx="8229600" cy="80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457200" y="2266950"/>
            <a:ext cx="8229600" cy="2327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22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22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sldNum" idx="12"/>
          </p:nvPr>
        </p:nvSpPr>
        <p:spPr>
          <a:xfrm>
            <a:off x="68580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2"/>
          <p:cNvSpPr/>
          <p:nvPr/>
        </p:nvSpPr>
        <p:spPr>
          <a:xfrm>
            <a:off x="0" y="-12128"/>
            <a:ext cx="9143988" cy="71118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6"/>
              <a:buFont typeface="Calibri"/>
              <a:buNone/>
            </a:pPr>
            <a:endParaRPr sz="2016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" name="Google Shape;16;p22"/>
          <p:cNvGrpSpPr/>
          <p:nvPr/>
        </p:nvGrpSpPr>
        <p:grpSpPr>
          <a:xfrm>
            <a:off x="8123274" y="-21404"/>
            <a:ext cx="1020714" cy="739640"/>
            <a:chOff x="31343600" y="8585200"/>
            <a:chExt cx="6299199" cy="4495800"/>
          </a:xfrm>
        </p:grpSpPr>
        <p:sp>
          <p:nvSpPr>
            <p:cNvPr id="17" name="Google Shape;17;p22"/>
            <p:cNvSpPr/>
            <p:nvPr/>
          </p:nvSpPr>
          <p:spPr>
            <a:xfrm>
              <a:off x="31343600" y="8585200"/>
              <a:ext cx="6299199" cy="449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16"/>
                <a:buFont typeface="Calibri"/>
                <a:buNone/>
              </a:pPr>
              <a:endParaRPr sz="2016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" name="Google Shape;18;p22" descr="A picture containing logo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1701866" y="8987270"/>
              <a:ext cx="5661857" cy="393810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" name="Google Shape;19;p22"/>
          <p:cNvGrpSpPr/>
          <p:nvPr/>
        </p:nvGrpSpPr>
        <p:grpSpPr>
          <a:xfrm>
            <a:off x="140579" y="53342"/>
            <a:ext cx="1567718" cy="579904"/>
            <a:chOff x="920299" y="1260589"/>
            <a:chExt cx="6217101" cy="2299728"/>
          </a:xfrm>
        </p:grpSpPr>
        <p:pic>
          <p:nvPicPr>
            <p:cNvPr id="20" name="Google Shape;20;p22" descr="https://lh3.googleusercontent.com/yB7zhF3MwhusK_HeI2HDyKtqwdZGuIF_HVgP3Mc8fCAChjLxJUTURVb_uG2PovcDSvGQPuJYYTQAsMTOY3HAmcL_tXjv3N0widZImP1hRc4znVPvtVbK9BfUJBWchUEfgnP_Kiy0VQo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20299" y="1260589"/>
              <a:ext cx="6217101" cy="10391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2" descr="Text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315123" y="2705996"/>
              <a:ext cx="5427453" cy="85432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asuki-Garg/rgcn-imb-detection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>
            <a:spLocks noGrp="1"/>
          </p:cNvSpPr>
          <p:nvPr>
            <p:ph type="title"/>
          </p:nvPr>
        </p:nvSpPr>
        <p:spPr>
          <a:xfrm>
            <a:off x="409753" y="1231437"/>
            <a:ext cx="8229600" cy="104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9177: Detecting Illicit Massage Businesses by Leveraging Graph Machine Learning</a:t>
            </a:r>
            <a:endParaRPr lang="en-US" sz="2400" i="0" dirty="0">
              <a:solidFill>
                <a:srgbClr val="000000"/>
              </a:solidFill>
              <a:effectLst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2" name="Google Shape;82;p1"/>
          <p:cNvSpPr txBox="1">
            <a:spLocks noGrp="1"/>
          </p:cNvSpPr>
          <p:nvPr>
            <p:ph type="body" idx="1"/>
          </p:nvPr>
        </p:nvSpPr>
        <p:spPr>
          <a:xfrm>
            <a:off x="457198" y="2504869"/>
            <a:ext cx="8134709" cy="198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01F35"/>
              </a:buClr>
              <a:buSzPts val="2400"/>
              <a:buNone/>
            </a:pPr>
            <a:r>
              <a:rPr lang="en-US" sz="1800" dirty="0">
                <a:solidFill>
                  <a:srgbClr val="201F35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/>
              </a:rPr>
              <a:t>Vasuki Garg</a:t>
            </a:r>
            <a:r>
              <a:rPr lang="en-US" sz="1800" baseline="30000" dirty="0">
                <a:solidFill>
                  <a:srgbClr val="201F35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/>
              </a:rPr>
              <a:t>1</a:t>
            </a:r>
            <a:r>
              <a:rPr lang="en-US" sz="1800" dirty="0">
                <a:solidFill>
                  <a:srgbClr val="201F35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/>
              </a:rPr>
              <a:t> </a:t>
            </a:r>
          </a:p>
          <a:p>
            <a:pPr marL="0" lvl="0" indent="0" algn="ctr">
              <a:spcBef>
                <a:spcPts val="480"/>
              </a:spcBef>
              <a:buClr>
                <a:srgbClr val="201F35"/>
              </a:buClr>
              <a:buSzPts val="2400"/>
              <a:buNone/>
            </a:pPr>
            <a:r>
              <a:rPr lang="en-US" sz="1800" b="0" dirty="0">
                <a:solidFill>
                  <a:srgbClr val="201F35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/>
              </a:rPr>
              <a:t>Osman Y. Özaltın</a:t>
            </a:r>
            <a:r>
              <a:rPr lang="en-US" sz="1800" b="0" baseline="30000" dirty="0">
                <a:solidFill>
                  <a:srgbClr val="201F35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/>
              </a:rPr>
              <a:t>1</a:t>
            </a:r>
            <a:r>
              <a:rPr lang="en-US" sz="1800" b="0" dirty="0">
                <a:solidFill>
                  <a:srgbClr val="201F35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/>
              </a:rPr>
              <a:t>, </a:t>
            </a:r>
            <a:r>
              <a:rPr lang="en-US" sz="1800" dirty="0">
                <a:solidFill>
                  <a:srgbClr val="201F35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/>
              </a:rPr>
              <a:t>Maria E. Mayorga</a:t>
            </a:r>
            <a:r>
              <a:rPr lang="en-US" sz="1800" baseline="30000" dirty="0">
                <a:solidFill>
                  <a:srgbClr val="201F35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/>
              </a:rPr>
              <a:t>1</a:t>
            </a:r>
            <a:r>
              <a:rPr lang="en-US" sz="1800" dirty="0">
                <a:solidFill>
                  <a:srgbClr val="201F35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/>
              </a:rPr>
              <a:t>, Sherrie </a:t>
            </a:r>
            <a:r>
              <a:rPr lang="en-US" sz="1800" b="0" dirty="0">
                <a:solidFill>
                  <a:srgbClr val="201F35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/>
              </a:rPr>
              <a:t>Bosisto</a:t>
            </a:r>
            <a:r>
              <a:rPr lang="en-US" sz="1800" b="0" baseline="30000" dirty="0">
                <a:solidFill>
                  <a:srgbClr val="201F35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/>
              </a:rPr>
              <a:t>2</a:t>
            </a:r>
            <a:r>
              <a:rPr lang="en-US" sz="1800" b="0" dirty="0">
                <a:solidFill>
                  <a:srgbClr val="201F35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/>
              </a:rPr>
              <a:t> </a:t>
            </a:r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01F35"/>
              </a:buClr>
              <a:buSzPts val="2400"/>
              <a:buNone/>
            </a:pPr>
            <a:endParaRPr lang="en-US" sz="500" dirty="0">
              <a:solidFill>
                <a:srgbClr val="201F35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Verdana"/>
            </a:endParaRPr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01F35"/>
              </a:buClr>
              <a:buSzPts val="2400"/>
              <a:buNone/>
            </a:pPr>
            <a:endParaRPr sz="500" dirty="0">
              <a:solidFill>
                <a:srgbClr val="201F35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Verdana"/>
            </a:endParaRPr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01F35"/>
              </a:buClr>
              <a:buSzPts val="2400"/>
              <a:buNone/>
            </a:pPr>
            <a:r>
              <a:rPr lang="en-US" sz="1800" b="0" baseline="30000" dirty="0">
                <a:solidFill>
                  <a:srgbClr val="201F35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/>
              </a:rPr>
              <a:t>1</a:t>
            </a:r>
            <a:r>
              <a:rPr lang="en-US" sz="1800" b="0" dirty="0">
                <a:solidFill>
                  <a:srgbClr val="201F35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/>
              </a:rPr>
              <a:t>North Carolina State University</a:t>
            </a:r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01F35"/>
              </a:buClr>
              <a:buSzPts val="2400"/>
              <a:buNone/>
            </a:pPr>
            <a:r>
              <a:rPr lang="en-US" sz="1800" baseline="30000" dirty="0">
                <a:solidFill>
                  <a:srgbClr val="201F35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/>
              </a:rPr>
              <a:t>2</a:t>
            </a:r>
            <a:r>
              <a:rPr lang="en-US" sz="1800" dirty="0">
                <a:solidFill>
                  <a:srgbClr val="201F35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/>
              </a:rPr>
              <a:t>Global Emancipation Network</a:t>
            </a:r>
            <a:endParaRPr lang="en-US" sz="1800" b="0" dirty="0">
              <a:solidFill>
                <a:srgbClr val="201F35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Verdana"/>
            </a:endParaRPr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01F35"/>
              </a:buClr>
              <a:buSzPts val="2400"/>
              <a:buNone/>
            </a:pPr>
            <a:endParaRPr lang="en-US" sz="500" dirty="0">
              <a:solidFill>
                <a:srgbClr val="201F35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Verdana"/>
            </a:endParaRPr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01F35"/>
              </a:buClr>
              <a:buSzPts val="2400"/>
              <a:buNone/>
            </a:pPr>
            <a:endParaRPr lang="en-US" sz="500" dirty="0">
              <a:solidFill>
                <a:srgbClr val="201F35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Verdana"/>
            </a:endParaRPr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01F35"/>
              </a:buClr>
              <a:buSzPts val="2400"/>
              <a:buNone/>
            </a:pPr>
            <a:r>
              <a:rPr lang="en-US" sz="1600" dirty="0">
                <a:solidFill>
                  <a:srgbClr val="201F35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/>
              </a:rPr>
              <a:t>August 21</a:t>
            </a:r>
            <a:r>
              <a:rPr lang="en-US" sz="1600" baseline="30000" dirty="0">
                <a:solidFill>
                  <a:srgbClr val="201F35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/>
              </a:rPr>
              <a:t>st</a:t>
            </a:r>
            <a:r>
              <a:rPr lang="en-US" sz="1600" dirty="0">
                <a:solidFill>
                  <a:srgbClr val="201F35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/>
              </a:rPr>
              <a:t>, 2025</a:t>
            </a:r>
            <a:endParaRPr sz="16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6FCB91-4278-49D7-B673-156DDB66D7EF}"/>
              </a:ext>
            </a:extLst>
          </p:cNvPr>
          <p:cNvSpPr txBox="1"/>
          <p:nvPr/>
        </p:nvSpPr>
        <p:spPr>
          <a:xfrm>
            <a:off x="5891799" y="481974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3EB5161-E942-0C51-950B-5174709F3E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476066" y="4767264"/>
            <a:ext cx="1210734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8CAB5-BBB4-BECE-5E19-B68E45A2A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179" y="888711"/>
            <a:ext cx="7479620" cy="516762"/>
          </a:xfrm>
        </p:spPr>
        <p:txBody>
          <a:bodyPr/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1BD75-09D9-A62B-9736-89C0F42FB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86119"/>
            <a:ext cx="4434615" cy="3048000"/>
          </a:xfrm>
        </p:spPr>
        <p:txBody>
          <a:bodyPr/>
          <a:lstStyle/>
          <a:p>
            <a:pPr marL="114300" indent="0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Human trafficking:</a:t>
            </a:r>
            <a:endParaRPr lang="en-US" sz="18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r>
              <a:rPr lang="en-US" sz="16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use of </a:t>
            </a:r>
            <a:r>
              <a:rPr lang="en-US" sz="1600" b="0" i="1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force, fraud, or coercion </a:t>
            </a:r>
            <a:r>
              <a:rPr lang="en-US" sz="16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exploit people for commercial sex acts or labor services against their will (US Dept. of State, 2025)</a:t>
            </a:r>
          </a:p>
          <a:p>
            <a:pPr marL="114300" indent="0" algn="just">
              <a:buNone/>
            </a:pPr>
            <a:endParaRPr lang="en-US" sz="1800" dirty="0">
              <a:solidFill>
                <a:srgbClr val="1E62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Illicit Massage Businesses (IMBs): </a:t>
            </a:r>
            <a:endParaRPr lang="en-US" sz="18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Businesses that pose as legitimate massage establishments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</a:t>
            </a:r>
            <a:r>
              <a:rPr lang="en-US" sz="16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provide commercial sex. IMBs engage in a hybrid form of trafficking: sex and labor</a:t>
            </a:r>
            <a:endParaRPr lang="en-US" sz="1600" b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C8B1F-7537-83E2-A62A-A32EC47791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9BD27AD6-FEBE-5E5A-720F-072989F51F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249"/>
          <a:stretch/>
        </p:blipFill>
        <p:spPr bwMode="auto">
          <a:xfrm>
            <a:off x="5685068" y="888711"/>
            <a:ext cx="1865715" cy="23396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3109A2-CFD7-11CB-2A0D-EB218141972E}"/>
              </a:ext>
            </a:extLst>
          </p:cNvPr>
          <p:cNvSpPr txBox="1"/>
          <p:nvPr/>
        </p:nvSpPr>
        <p:spPr>
          <a:xfrm>
            <a:off x="5058396" y="4817414"/>
            <a:ext cx="311004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Estimated 15,000 IMBs across the US (The Network, 2024) </a:t>
            </a:r>
            <a:endParaRPr lang="en-U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5B0F7-DCBC-D1B2-3F7D-334DEFE0D8B7}"/>
              </a:ext>
            </a:extLst>
          </p:cNvPr>
          <p:cNvSpPr txBox="1"/>
          <p:nvPr/>
        </p:nvSpPr>
        <p:spPr>
          <a:xfrm>
            <a:off x="8338088" y="-39520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 descr="A map of the united states&#10;&#10;AI-generated content may be incorrect.">
            <a:extLst>
              <a:ext uri="{FF2B5EF4-FFF2-40B4-BE49-F238E27FC236}">
                <a16:creationId xmlns:a16="http://schemas.microsoft.com/office/drawing/2014/main" id="{F3C231E3-84AE-B481-83CD-6CFB7E416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6822" y="3427160"/>
            <a:ext cx="2453195" cy="1365179"/>
          </a:xfrm>
          <a:prstGeom prst="rect">
            <a:avLst/>
          </a:prstGeom>
        </p:spPr>
      </p:pic>
      <p:pic>
        <p:nvPicPr>
          <p:cNvPr id="15" name="Picture 14" descr="A red icon with a person and a paper&#10;&#10;AI-generated content may be incorrect.">
            <a:extLst>
              <a:ext uri="{FF2B5EF4-FFF2-40B4-BE49-F238E27FC236}">
                <a16:creationId xmlns:a16="http://schemas.microsoft.com/office/drawing/2014/main" id="{CBE81AD0-17B6-913D-3472-F2AC3AED27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539" y="888711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369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4F12A-0CAB-6FB6-F12B-4CD162C2E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123D5-08B2-8387-2DF1-AB369CBF5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853" y="97542"/>
            <a:ext cx="2518293" cy="516762"/>
          </a:xfrm>
        </p:spPr>
        <p:txBody>
          <a:bodyPr/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Arc of the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3A75A-58A6-18DF-2B76-52ACD0822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4234" y="806984"/>
            <a:ext cx="8254602" cy="708149"/>
          </a:xfrm>
        </p:spPr>
        <p:txBody>
          <a:bodyPr/>
          <a:lstStyle/>
          <a:p>
            <a:pPr marL="11430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Problem: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Human trafficking </a:t>
            </a:r>
            <a:r>
              <a:rPr lang="en-US" sz="14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investigators face </a:t>
            </a:r>
            <a:r>
              <a:rPr lang="en-US" sz="1400" b="1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en-US" sz="14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critical</a:t>
            </a:r>
            <a:r>
              <a:rPr lang="en-US" sz="14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challenges:</a:t>
            </a:r>
          </a:p>
          <a:p>
            <a:pPr algn="just">
              <a:spcBef>
                <a:spcPts val="0"/>
              </a:spcBef>
            </a:pPr>
            <a:r>
              <a:rPr lang="en-US" sz="14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Identifying IMBs, as they operate covertl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lang="en-US" sz="1400" b="0" i="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rocessing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14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sheer volume of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</a:t>
            </a:r>
            <a:r>
              <a:rPr lang="en-US" sz="14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from open sources such as online business reviews</a:t>
            </a:r>
          </a:p>
          <a:p>
            <a:pPr algn="just">
              <a:spcBef>
                <a:spcPts val="0"/>
              </a:spcBef>
            </a:pPr>
            <a:endParaRPr lang="en-US" sz="1600" dirty="0"/>
          </a:p>
          <a:p>
            <a:pPr marL="114300" indent="0" algn="just">
              <a:spcBef>
                <a:spcPts val="0"/>
              </a:spcBef>
              <a:buNone/>
            </a:pPr>
            <a:endParaRPr lang="en-US" sz="1600" b="0" i="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D8703-795F-C580-2C9F-CE18FF2BC3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476066" y="4614864"/>
            <a:ext cx="1210734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1C998445-F575-9CCB-2953-CA29AB4E85B1}"/>
              </a:ext>
            </a:extLst>
          </p:cNvPr>
          <p:cNvSpPr/>
          <p:nvPr/>
        </p:nvSpPr>
        <p:spPr>
          <a:xfrm>
            <a:off x="529231" y="2806211"/>
            <a:ext cx="2209937" cy="1085864"/>
          </a:xfrm>
          <a:custGeom>
            <a:avLst/>
            <a:gdLst>
              <a:gd name="connsiteX0" fmla="*/ 0 w 1654263"/>
              <a:gd name="connsiteY0" fmla="*/ 94695 h 946949"/>
              <a:gd name="connsiteX1" fmla="*/ 94695 w 1654263"/>
              <a:gd name="connsiteY1" fmla="*/ 0 h 946949"/>
              <a:gd name="connsiteX2" fmla="*/ 1559568 w 1654263"/>
              <a:gd name="connsiteY2" fmla="*/ 0 h 946949"/>
              <a:gd name="connsiteX3" fmla="*/ 1654263 w 1654263"/>
              <a:gd name="connsiteY3" fmla="*/ 94695 h 946949"/>
              <a:gd name="connsiteX4" fmla="*/ 1654263 w 1654263"/>
              <a:gd name="connsiteY4" fmla="*/ 852254 h 946949"/>
              <a:gd name="connsiteX5" fmla="*/ 1559568 w 1654263"/>
              <a:gd name="connsiteY5" fmla="*/ 946949 h 946949"/>
              <a:gd name="connsiteX6" fmla="*/ 94695 w 1654263"/>
              <a:gd name="connsiteY6" fmla="*/ 946949 h 946949"/>
              <a:gd name="connsiteX7" fmla="*/ 0 w 1654263"/>
              <a:gd name="connsiteY7" fmla="*/ 852254 h 946949"/>
              <a:gd name="connsiteX8" fmla="*/ 0 w 1654263"/>
              <a:gd name="connsiteY8" fmla="*/ 94695 h 946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54263" h="946949">
                <a:moveTo>
                  <a:pt x="0" y="94695"/>
                </a:moveTo>
                <a:cubicBezTo>
                  <a:pt x="0" y="42396"/>
                  <a:pt x="42396" y="0"/>
                  <a:pt x="94695" y="0"/>
                </a:cubicBezTo>
                <a:lnTo>
                  <a:pt x="1559568" y="0"/>
                </a:lnTo>
                <a:cubicBezTo>
                  <a:pt x="1611867" y="0"/>
                  <a:pt x="1654263" y="42396"/>
                  <a:pt x="1654263" y="94695"/>
                </a:cubicBezTo>
                <a:lnTo>
                  <a:pt x="1654263" y="852254"/>
                </a:lnTo>
                <a:cubicBezTo>
                  <a:pt x="1654263" y="904553"/>
                  <a:pt x="1611867" y="946949"/>
                  <a:pt x="1559568" y="946949"/>
                </a:cubicBezTo>
                <a:lnTo>
                  <a:pt x="94695" y="946949"/>
                </a:lnTo>
                <a:cubicBezTo>
                  <a:pt x="42396" y="946949"/>
                  <a:pt x="0" y="904553"/>
                  <a:pt x="0" y="852254"/>
                </a:cubicBezTo>
                <a:lnTo>
                  <a:pt x="0" y="94695"/>
                </a:lnTo>
                <a:close/>
              </a:path>
            </a:pathLst>
          </a:custGeom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0842" tIns="40842" rIns="40842" bIns="243760" numCol="1" spcCol="1270" anchor="ctr" anchorCtr="0">
            <a:noAutofit/>
          </a:bodyPr>
          <a:lstStyle/>
          <a:p>
            <a:pPr lvl="1" algn="ctr" defTabSz="4445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200" kern="1200" dirty="0"/>
              <a:t>Identifying high risk IMBs</a:t>
            </a:r>
          </a:p>
          <a:p>
            <a:pPr lvl="1" algn="ctr" defTabSz="4445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200" kern="1200" dirty="0"/>
              <a:t>Multi-source data integration</a:t>
            </a:r>
          </a:p>
          <a:p>
            <a:pPr lvl="1" algn="ctr" defTabSz="4445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200" kern="1200" dirty="0"/>
              <a:t>Risk scores, decision trees</a:t>
            </a:r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076C97F1-E4ED-C04A-0C7A-EEB536636B9F}"/>
              </a:ext>
            </a:extLst>
          </p:cNvPr>
          <p:cNvSpPr/>
          <p:nvPr/>
        </p:nvSpPr>
        <p:spPr>
          <a:xfrm>
            <a:off x="1595806" y="2399571"/>
            <a:ext cx="2776748" cy="2383472"/>
          </a:xfrm>
          <a:prstGeom prst="leftCircularArrow">
            <a:avLst>
              <a:gd name="adj1" fmla="val 4317"/>
              <a:gd name="adj2" fmla="val 546339"/>
              <a:gd name="adj3" fmla="val 2321849"/>
              <a:gd name="adj4" fmla="val 9024489"/>
              <a:gd name="adj5" fmla="val 5037"/>
            </a:avLst>
          </a:prstGeom>
        </p:spPr>
        <p:style>
          <a:lnRef idx="0">
            <a:schemeClr val="accent2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A98E539C-D6C5-CAD7-1F96-831F302572CE}"/>
              </a:ext>
            </a:extLst>
          </p:cNvPr>
          <p:cNvSpPr/>
          <p:nvPr/>
        </p:nvSpPr>
        <p:spPr>
          <a:xfrm>
            <a:off x="1175990" y="3597303"/>
            <a:ext cx="1395509" cy="527458"/>
          </a:xfrm>
          <a:custGeom>
            <a:avLst/>
            <a:gdLst>
              <a:gd name="connsiteX0" fmla="*/ 0 w 1020541"/>
              <a:gd name="connsiteY0" fmla="*/ 40584 h 405835"/>
              <a:gd name="connsiteX1" fmla="*/ 40584 w 1020541"/>
              <a:gd name="connsiteY1" fmla="*/ 0 h 405835"/>
              <a:gd name="connsiteX2" fmla="*/ 979958 w 1020541"/>
              <a:gd name="connsiteY2" fmla="*/ 0 h 405835"/>
              <a:gd name="connsiteX3" fmla="*/ 1020542 w 1020541"/>
              <a:gd name="connsiteY3" fmla="*/ 40584 h 405835"/>
              <a:gd name="connsiteX4" fmla="*/ 1020541 w 1020541"/>
              <a:gd name="connsiteY4" fmla="*/ 365252 h 405835"/>
              <a:gd name="connsiteX5" fmla="*/ 979957 w 1020541"/>
              <a:gd name="connsiteY5" fmla="*/ 405836 h 405835"/>
              <a:gd name="connsiteX6" fmla="*/ 40584 w 1020541"/>
              <a:gd name="connsiteY6" fmla="*/ 405835 h 405835"/>
              <a:gd name="connsiteX7" fmla="*/ 0 w 1020541"/>
              <a:gd name="connsiteY7" fmla="*/ 365251 h 405835"/>
              <a:gd name="connsiteX8" fmla="*/ 0 w 1020541"/>
              <a:gd name="connsiteY8" fmla="*/ 40584 h 40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0541" h="405835">
                <a:moveTo>
                  <a:pt x="0" y="40584"/>
                </a:moveTo>
                <a:cubicBezTo>
                  <a:pt x="0" y="18170"/>
                  <a:pt x="18170" y="0"/>
                  <a:pt x="40584" y="0"/>
                </a:cubicBezTo>
                <a:lnTo>
                  <a:pt x="979958" y="0"/>
                </a:lnTo>
                <a:cubicBezTo>
                  <a:pt x="1002372" y="0"/>
                  <a:pt x="1020542" y="18170"/>
                  <a:pt x="1020542" y="40584"/>
                </a:cubicBezTo>
                <a:cubicBezTo>
                  <a:pt x="1020542" y="148807"/>
                  <a:pt x="1020541" y="257029"/>
                  <a:pt x="1020541" y="365252"/>
                </a:cubicBezTo>
                <a:cubicBezTo>
                  <a:pt x="1020541" y="387666"/>
                  <a:pt x="1002371" y="405836"/>
                  <a:pt x="979957" y="405836"/>
                </a:cubicBezTo>
                <a:lnTo>
                  <a:pt x="40584" y="405835"/>
                </a:lnTo>
                <a:cubicBezTo>
                  <a:pt x="18170" y="405835"/>
                  <a:pt x="0" y="387665"/>
                  <a:pt x="0" y="365251"/>
                </a:cubicBezTo>
                <a:lnTo>
                  <a:pt x="0" y="40584"/>
                </a:lnTo>
                <a:close/>
              </a:path>
            </a:pathLst>
          </a:custGeom>
          <a:solidFill>
            <a:srgbClr val="C1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127" tIns="22047" rIns="27127" bIns="22047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50" kern="1200" dirty="0"/>
              <a:t>Interpretable</a:t>
            </a:r>
            <a:r>
              <a:rPr lang="en-US" sz="1050" kern="1200" baseline="0" dirty="0"/>
              <a:t> models for IMB Detection, IISE 2022</a:t>
            </a:r>
            <a:endParaRPr lang="en-US" sz="1050" kern="1200" dirty="0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573A0C99-B0C2-993C-8597-D91495EF2D1C}"/>
              </a:ext>
            </a:extLst>
          </p:cNvPr>
          <p:cNvSpPr/>
          <p:nvPr/>
        </p:nvSpPr>
        <p:spPr>
          <a:xfrm>
            <a:off x="3310015" y="2806211"/>
            <a:ext cx="2201671" cy="1085864"/>
          </a:xfrm>
          <a:custGeom>
            <a:avLst/>
            <a:gdLst>
              <a:gd name="connsiteX0" fmla="*/ 0 w 1648075"/>
              <a:gd name="connsiteY0" fmla="*/ 94695 h 946949"/>
              <a:gd name="connsiteX1" fmla="*/ 94695 w 1648075"/>
              <a:gd name="connsiteY1" fmla="*/ 0 h 946949"/>
              <a:gd name="connsiteX2" fmla="*/ 1553380 w 1648075"/>
              <a:gd name="connsiteY2" fmla="*/ 0 h 946949"/>
              <a:gd name="connsiteX3" fmla="*/ 1648075 w 1648075"/>
              <a:gd name="connsiteY3" fmla="*/ 94695 h 946949"/>
              <a:gd name="connsiteX4" fmla="*/ 1648075 w 1648075"/>
              <a:gd name="connsiteY4" fmla="*/ 852254 h 946949"/>
              <a:gd name="connsiteX5" fmla="*/ 1553380 w 1648075"/>
              <a:gd name="connsiteY5" fmla="*/ 946949 h 946949"/>
              <a:gd name="connsiteX6" fmla="*/ 94695 w 1648075"/>
              <a:gd name="connsiteY6" fmla="*/ 946949 h 946949"/>
              <a:gd name="connsiteX7" fmla="*/ 0 w 1648075"/>
              <a:gd name="connsiteY7" fmla="*/ 852254 h 946949"/>
              <a:gd name="connsiteX8" fmla="*/ 0 w 1648075"/>
              <a:gd name="connsiteY8" fmla="*/ 94695 h 946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48075" h="946949">
                <a:moveTo>
                  <a:pt x="0" y="94695"/>
                </a:moveTo>
                <a:cubicBezTo>
                  <a:pt x="0" y="42396"/>
                  <a:pt x="42396" y="0"/>
                  <a:pt x="94695" y="0"/>
                </a:cubicBezTo>
                <a:lnTo>
                  <a:pt x="1553380" y="0"/>
                </a:lnTo>
                <a:cubicBezTo>
                  <a:pt x="1605679" y="0"/>
                  <a:pt x="1648075" y="42396"/>
                  <a:pt x="1648075" y="94695"/>
                </a:cubicBezTo>
                <a:lnTo>
                  <a:pt x="1648075" y="852254"/>
                </a:lnTo>
                <a:cubicBezTo>
                  <a:pt x="1648075" y="904553"/>
                  <a:pt x="1605679" y="946949"/>
                  <a:pt x="1553380" y="946949"/>
                </a:cubicBezTo>
                <a:lnTo>
                  <a:pt x="94695" y="946949"/>
                </a:lnTo>
                <a:cubicBezTo>
                  <a:pt x="42396" y="946949"/>
                  <a:pt x="0" y="904553"/>
                  <a:pt x="0" y="852254"/>
                </a:cubicBezTo>
                <a:lnTo>
                  <a:pt x="0" y="94695"/>
                </a:lnTo>
                <a:close/>
              </a:path>
            </a:pathLst>
          </a:custGeom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0842" tIns="243759" rIns="40842" bIns="40843" numCol="1" spcCol="1270" anchor="ctr" anchorCtr="0">
            <a:noAutofit/>
          </a:bodyPr>
          <a:lstStyle/>
          <a:p>
            <a:pPr lvl="1" algn="ctr" defTabSz="4445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200" kern="1200" dirty="0"/>
              <a:t>Extracting signals from unstructured review text</a:t>
            </a:r>
          </a:p>
          <a:p>
            <a:pPr lvl="1" algn="ctr" defTabSz="4445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200" kern="1200" dirty="0"/>
              <a:t>Lexicon, Embedding</a:t>
            </a:r>
          </a:p>
          <a:p>
            <a:pPr lvl="1" algn="ctr" defTabSz="4445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200" kern="1200" dirty="0"/>
              <a:t>NLP for automation</a:t>
            </a:r>
          </a:p>
        </p:txBody>
      </p:sp>
      <p:sp>
        <p:nvSpPr>
          <p:cNvPr id="42" name="Circular Arrow 41">
            <a:extLst>
              <a:ext uri="{FF2B5EF4-FFF2-40B4-BE49-F238E27FC236}">
                <a16:creationId xmlns:a16="http://schemas.microsoft.com/office/drawing/2014/main" id="{A99B7555-CB15-5E82-A2A7-9AEC250540F9}"/>
              </a:ext>
            </a:extLst>
          </p:cNvPr>
          <p:cNvSpPr/>
          <p:nvPr/>
        </p:nvSpPr>
        <p:spPr>
          <a:xfrm>
            <a:off x="4349653" y="1839280"/>
            <a:ext cx="3126413" cy="2683613"/>
          </a:xfrm>
          <a:prstGeom prst="circularArrow">
            <a:avLst>
              <a:gd name="adj1" fmla="val 3834"/>
              <a:gd name="adj2" fmla="val 479583"/>
              <a:gd name="adj3" fmla="val 19344906"/>
              <a:gd name="adj4" fmla="val 12575511"/>
              <a:gd name="adj5" fmla="val 4473"/>
            </a:avLst>
          </a:prstGeom>
        </p:spPr>
        <p:style>
          <a:lnRef idx="0">
            <a:schemeClr val="accent2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1A6DC627-D942-91E7-0295-2EAE32B4BB26}"/>
              </a:ext>
            </a:extLst>
          </p:cNvPr>
          <p:cNvSpPr/>
          <p:nvPr/>
        </p:nvSpPr>
        <p:spPr>
          <a:xfrm>
            <a:off x="3602581" y="2503297"/>
            <a:ext cx="1775533" cy="535597"/>
          </a:xfrm>
          <a:custGeom>
            <a:avLst/>
            <a:gdLst>
              <a:gd name="connsiteX0" fmla="*/ 0 w 1313813"/>
              <a:gd name="connsiteY0" fmla="*/ 40584 h 405835"/>
              <a:gd name="connsiteX1" fmla="*/ 40584 w 1313813"/>
              <a:gd name="connsiteY1" fmla="*/ 0 h 405835"/>
              <a:gd name="connsiteX2" fmla="*/ 1273230 w 1313813"/>
              <a:gd name="connsiteY2" fmla="*/ 0 h 405835"/>
              <a:gd name="connsiteX3" fmla="*/ 1313814 w 1313813"/>
              <a:gd name="connsiteY3" fmla="*/ 40584 h 405835"/>
              <a:gd name="connsiteX4" fmla="*/ 1313813 w 1313813"/>
              <a:gd name="connsiteY4" fmla="*/ 365252 h 405835"/>
              <a:gd name="connsiteX5" fmla="*/ 1273229 w 1313813"/>
              <a:gd name="connsiteY5" fmla="*/ 405836 h 405835"/>
              <a:gd name="connsiteX6" fmla="*/ 40584 w 1313813"/>
              <a:gd name="connsiteY6" fmla="*/ 405835 h 405835"/>
              <a:gd name="connsiteX7" fmla="*/ 0 w 1313813"/>
              <a:gd name="connsiteY7" fmla="*/ 365251 h 405835"/>
              <a:gd name="connsiteX8" fmla="*/ 0 w 1313813"/>
              <a:gd name="connsiteY8" fmla="*/ 40584 h 40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13813" h="405835">
                <a:moveTo>
                  <a:pt x="0" y="40584"/>
                </a:moveTo>
                <a:cubicBezTo>
                  <a:pt x="0" y="18170"/>
                  <a:pt x="18170" y="0"/>
                  <a:pt x="40584" y="0"/>
                </a:cubicBezTo>
                <a:lnTo>
                  <a:pt x="1273230" y="0"/>
                </a:lnTo>
                <a:cubicBezTo>
                  <a:pt x="1295644" y="0"/>
                  <a:pt x="1313814" y="18170"/>
                  <a:pt x="1313814" y="40584"/>
                </a:cubicBezTo>
                <a:cubicBezTo>
                  <a:pt x="1313814" y="148807"/>
                  <a:pt x="1313813" y="257029"/>
                  <a:pt x="1313813" y="365252"/>
                </a:cubicBezTo>
                <a:cubicBezTo>
                  <a:pt x="1313813" y="387666"/>
                  <a:pt x="1295643" y="405836"/>
                  <a:pt x="1273229" y="405836"/>
                </a:cubicBezTo>
                <a:lnTo>
                  <a:pt x="40584" y="405835"/>
                </a:lnTo>
                <a:cubicBezTo>
                  <a:pt x="18170" y="405835"/>
                  <a:pt x="0" y="387665"/>
                  <a:pt x="0" y="365251"/>
                </a:cubicBezTo>
                <a:lnTo>
                  <a:pt x="0" y="40584"/>
                </a:lnTo>
                <a:close/>
              </a:path>
            </a:pathLst>
          </a:custGeom>
          <a:solidFill>
            <a:srgbClr val="C1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127" tIns="22047" rIns="27127" bIns="22047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50" kern="1200" dirty="0"/>
              <a:t>Automated Classification of Online Customer Reviews, MSOM 2023</a:t>
            </a: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2DF858C-A02D-C8B4-1978-FA7BD1BD7F76}"/>
              </a:ext>
            </a:extLst>
          </p:cNvPr>
          <p:cNvSpPr/>
          <p:nvPr/>
        </p:nvSpPr>
        <p:spPr>
          <a:xfrm>
            <a:off x="6114888" y="2806211"/>
            <a:ext cx="2412502" cy="1085864"/>
          </a:xfrm>
          <a:custGeom>
            <a:avLst/>
            <a:gdLst>
              <a:gd name="connsiteX0" fmla="*/ 0 w 1805894"/>
              <a:gd name="connsiteY0" fmla="*/ 94695 h 946949"/>
              <a:gd name="connsiteX1" fmla="*/ 94695 w 1805894"/>
              <a:gd name="connsiteY1" fmla="*/ 0 h 946949"/>
              <a:gd name="connsiteX2" fmla="*/ 1711199 w 1805894"/>
              <a:gd name="connsiteY2" fmla="*/ 0 h 946949"/>
              <a:gd name="connsiteX3" fmla="*/ 1805894 w 1805894"/>
              <a:gd name="connsiteY3" fmla="*/ 94695 h 946949"/>
              <a:gd name="connsiteX4" fmla="*/ 1805894 w 1805894"/>
              <a:gd name="connsiteY4" fmla="*/ 852254 h 946949"/>
              <a:gd name="connsiteX5" fmla="*/ 1711199 w 1805894"/>
              <a:gd name="connsiteY5" fmla="*/ 946949 h 946949"/>
              <a:gd name="connsiteX6" fmla="*/ 94695 w 1805894"/>
              <a:gd name="connsiteY6" fmla="*/ 946949 h 946949"/>
              <a:gd name="connsiteX7" fmla="*/ 0 w 1805894"/>
              <a:gd name="connsiteY7" fmla="*/ 852254 h 946949"/>
              <a:gd name="connsiteX8" fmla="*/ 0 w 1805894"/>
              <a:gd name="connsiteY8" fmla="*/ 94695 h 946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05894" h="946949">
                <a:moveTo>
                  <a:pt x="0" y="94695"/>
                </a:moveTo>
                <a:cubicBezTo>
                  <a:pt x="0" y="42396"/>
                  <a:pt x="42396" y="0"/>
                  <a:pt x="94695" y="0"/>
                </a:cubicBezTo>
                <a:lnTo>
                  <a:pt x="1711199" y="0"/>
                </a:lnTo>
                <a:cubicBezTo>
                  <a:pt x="1763498" y="0"/>
                  <a:pt x="1805894" y="42396"/>
                  <a:pt x="1805894" y="94695"/>
                </a:cubicBezTo>
                <a:lnTo>
                  <a:pt x="1805894" y="852254"/>
                </a:lnTo>
                <a:cubicBezTo>
                  <a:pt x="1805894" y="904553"/>
                  <a:pt x="1763498" y="946949"/>
                  <a:pt x="1711199" y="946949"/>
                </a:cubicBezTo>
                <a:lnTo>
                  <a:pt x="94695" y="946949"/>
                </a:lnTo>
                <a:cubicBezTo>
                  <a:pt x="42396" y="946949"/>
                  <a:pt x="0" y="904553"/>
                  <a:pt x="0" y="852254"/>
                </a:cubicBezTo>
                <a:lnTo>
                  <a:pt x="0" y="94695"/>
                </a:lnTo>
                <a:close/>
              </a:path>
            </a:pathLst>
          </a:custGeom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0842" tIns="40842" rIns="40842" bIns="243760" numCol="1" spcCol="1270" anchor="ctr" anchorCtr="0">
            <a:noAutofit/>
          </a:bodyPr>
          <a:lstStyle/>
          <a:p>
            <a:pPr lvl="1" algn="ctr" defTabSz="4445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200" kern="1200" dirty="0"/>
              <a:t>Improving label efficiency with fewer annotations</a:t>
            </a:r>
          </a:p>
          <a:p>
            <a:pPr lvl="1" algn="ctr" defTabSz="4445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200" kern="1200" dirty="0"/>
              <a:t>Reinforcement learning-based active learning policy</a:t>
            </a: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57FED712-AB6C-3284-744C-0A9B247F5C49}"/>
              </a:ext>
            </a:extLst>
          </p:cNvPr>
          <p:cNvSpPr/>
          <p:nvPr/>
        </p:nvSpPr>
        <p:spPr>
          <a:xfrm>
            <a:off x="6908700" y="3664591"/>
            <a:ext cx="1443926" cy="532768"/>
          </a:xfrm>
          <a:custGeom>
            <a:avLst/>
            <a:gdLst>
              <a:gd name="connsiteX0" fmla="*/ 0 w 1020541"/>
              <a:gd name="connsiteY0" fmla="*/ 40584 h 405835"/>
              <a:gd name="connsiteX1" fmla="*/ 40584 w 1020541"/>
              <a:gd name="connsiteY1" fmla="*/ 0 h 405835"/>
              <a:gd name="connsiteX2" fmla="*/ 979958 w 1020541"/>
              <a:gd name="connsiteY2" fmla="*/ 0 h 405835"/>
              <a:gd name="connsiteX3" fmla="*/ 1020542 w 1020541"/>
              <a:gd name="connsiteY3" fmla="*/ 40584 h 405835"/>
              <a:gd name="connsiteX4" fmla="*/ 1020541 w 1020541"/>
              <a:gd name="connsiteY4" fmla="*/ 365252 h 405835"/>
              <a:gd name="connsiteX5" fmla="*/ 979957 w 1020541"/>
              <a:gd name="connsiteY5" fmla="*/ 405836 h 405835"/>
              <a:gd name="connsiteX6" fmla="*/ 40584 w 1020541"/>
              <a:gd name="connsiteY6" fmla="*/ 405835 h 405835"/>
              <a:gd name="connsiteX7" fmla="*/ 0 w 1020541"/>
              <a:gd name="connsiteY7" fmla="*/ 365251 h 405835"/>
              <a:gd name="connsiteX8" fmla="*/ 0 w 1020541"/>
              <a:gd name="connsiteY8" fmla="*/ 40584 h 40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0541" h="405835">
                <a:moveTo>
                  <a:pt x="0" y="40584"/>
                </a:moveTo>
                <a:cubicBezTo>
                  <a:pt x="0" y="18170"/>
                  <a:pt x="18170" y="0"/>
                  <a:pt x="40584" y="0"/>
                </a:cubicBezTo>
                <a:lnTo>
                  <a:pt x="979958" y="0"/>
                </a:lnTo>
                <a:cubicBezTo>
                  <a:pt x="1002372" y="0"/>
                  <a:pt x="1020542" y="18170"/>
                  <a:pt x="1020542" y="40584"/>
                </a:cubicBezTo>
                <a:cubicBezTo>
                  <a:pt x="1020542" y="148807"/>
                  <a:pt x="1020541" y="257029"/>
                  <a:pt x="1020541" y="365252"/>
                </a:cubicBezTo>
                <a:cubicBezTo>
                  <a:pt x="1020541" y="387666"/>
                  <a:pt x="1002371" y="405836"/>
                  <a:pt x="979957" y="405836"/>
                </a:cubicBezTo>
                <a:lnTo>
                  <a:pt x="40584" y="405835"/>
                </a:lnTo>
                <a:cubicBezTo>
                  <a:pt x="18170" y="405835"/>
                  <a:pt x="0" y="387665"/>
                  <a:pt x="0" y="365251"/>
                </a:cubicBezTo>
                <a:lnTo>
                  <a:pt x="0" y="40584"/>
                </a:lnTo>
                <a:close/>
              </a:path>
            </a:pathLst>
          </a:custGeom>
          <a:solidFill>
            <a:srgbClr val="C1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127" tIns="22047" rIns="27127" bIns="22047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50" kern="1200" dirty="0"/>
              <a:t>Active Learning for Detecting Human Trafficking, OR 2025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35F26C-7820-B5B0-AE4F-F59C595B3F4B}"/>
              </a:ext>
            </a:extLst>
          </p:cNvPr>
          <p:cNvSpPr txBox="1"/>
          <p:nvPr/>
        </p:nvSpPr>
        <p:spPr>
          <a:xfrm>
            <a:off x="1919500" y="4667564"/>
            <a:ext cx="2129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Need for large-scale, scalable automation of text data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158AAD-77DE-9ADE-DD51-F8634CA3EBA4}"/>
              </a:ext>
            </a:extLst>
          </p:cNvPr>
          <p:cNvSpPr txBox="1"/>
          <p:nvPr/>
        </p:nvSpPr>
        <p:spPr>
          <a:xfrm>
            <a:off x="4987283" y="1515133"/>
            <a:ext cx="186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High labeling effort and class imbalance arise</a:t>
            </a:r>
          </a:p>
        </p:txBody>
      </p:sp>
    </p:spTree>
    <p:extLst>
      <p:ext uri="{BB962C8B-B14F-4D97-AF65-F5344CB8AC3E}">
        <p14:creationId xmlns:p14="http://schemas.microsoft.com/office/powerpoint/2010/main" val="325677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6" grpId="0" animBg="1"/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6DAB3-A581-FE61-3D1C-31826E0A5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772" y="3264850"/>
            <a:ext cx="6734172" cy="3493295"/>
          </a:xfrm>
        </p:spPr>
        <p:txBody>
          <a:bodyPr/>
          <a:lstStyle/>
          <a:p>
            <a:pPr marL="11430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strike="noStrike" dirty="0"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Solution: Network Based Detection</a:t>
            </a:r>
          </a:p>
          <a:p>
            <a:pPr marL="114300" indent="0" algn="just">
              <a:spcBef>
                <a:spcPts val="0"/>
              </a:spcBef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Instead of treating each business as an 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isolated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entity, leveraging a 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heterogeneous network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linking and analyzing businesses, reviews, and reviewers to</a:t>
            </a:r>
            <a:r>
              <a:rPr lang="en-US" sz="14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endParaRPr lang="en-US" sz="1400" b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SzPct val="90000"/>
              <a:buFont typeface="+mj-lt"/>
              <a:buAutoNum type="arabicPeriod"/>
            </a:pPr>
            <a:r>
              <a:rPr lang="en-US" sz="14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Classify businesses (illicit vs non-illicit)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SzPct val="90000"/>
              <a:buFont typeface="+mj-lt"/>
              <a:buAutoNum type="arabicPeriod"/>
            </a:pPr>
            <a:r>
              <a:rPr lang="en-US" sz="14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Prioritize the investigation of the most suspicious massage businesses</a:t>
            </a:r>
          </a:p>
          <a:p>
            <a:pPr marL="114300" indent="0" algn="just">
              <a:buNone/>
            </a:pP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7184C-8F4E-7E97-3059-7987F0EC09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25DFD1FA-5BE0-5703-199E-C4F6A389B9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88"/>
          <a:stretch>
            <a:fillRect/>
          </a:stretch>
        </p:blipFill>
        <p:spPr bwMode="auto">
          <a:xfrm>
            <a:off x="7176478" y="3264850"/>
            <a:ext cx="1510322" cy="1321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4F71F88-F8C8-6F5C-E4EA-EBD1B1F37589}"/>
              </a:ext>
            </a:extLst>
          </p:cNvPr>
          <p:cNvSpPr txBox="1">
            <a:spLocks/>
          </p:cNvSpPr>
          <p:nvPr/>
        </p:nvSpPr>
        <p:spPr>
          <a:xfrm>
            <a:off x="227943" y="811240"/>
            <a:ext cx="8458857" cy="729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just">
              <a:spcBef>
                <a:spcPts val="0"/>
              </a:spcBef>
              <a:buFont typeface="Arial"/>
              <a:buNone/>
            </a:pPr>
            <a:r>
              <a:rPr lang="en-US" sz="1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improve IMB detection?</a:t>
            </a:r>
            <a:endParaRPr lang="en-US" sz="1600" dirty="0">
              <a:solidFill>
                <a:srgbClr val="C00000"/>
              </a:solidFill>
            </a:endParaRPr>
          </a:p>
          <a:p>
            <a:pPr marL="114300" indent="0" algn="just">
              <a:spcBef>
                <a:spcPts val="0"/>
              </a:spcBef>
              <a:buFont typeface="Arial"/>
              <a:buNone/>
            </a:pP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1.png">
            <a:extLst>
              <a:ext uri="{FF2B5EF4-FFF2-40B4-BE49-F238E27FC236}">
                <a16:creationId xmlns:a16="http://schemas.microsoft.com/office/drawing/2014/main" id="{E360387D-0B2D-F59E-3E56-F735D3392B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286000" y="1262163"/>
            <a:ext cx="4572000" cy="1551764"/>
          </a:xfrm>
          <a:prstGeom prst="rect">
            <a:avLst/>
          </a:prstGeom>
          <a:ln/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FE3C41E-E833-9D09-1B88-EC2C5C073AB4}"/>
              </a:ext>
            </a:extLst>
          </p:cNvPr>
          <p:cNvSpPr txBox="1">
            <a:spLocks/>
          </p:cNvSpPr>
          <p:nvPr/>
        </p:nvSpPr>
        <p:spPr>
          <a:xfrm>
            <a:off x="1922350" y="2839075"/>
            <a:ext cx="5299299" cy="25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ctr">
              <a:spcBef>
                <a:spcPts val="0"/>
              </a:spcBef>
              <a:buNone/>
            </a:pPr>
            <a:r>
              <a:rPr lang="en-US" sz="1000" dirty="0"/>
              <a:t>Figure illustrates cross-platform linkage of businesses through shared identifiers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927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2553E-7BF8-9CAE-26AF-47D346CD4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D8CF9-B12D-F6F3-CEE2-BBBBAE763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1" y="888711"/>
            <a:ext cx="7680958" cy="328018"/>
          </a:xfrm>
        </p:spPr>
        <p:txBody>
          <a:bodyPr/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Practical Impact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419B7-C489-4F74-F01B-5A6458D1D6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839A0-7F80-D32C-E975-74E90700E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969" y="1372760"/>
            <a:ext cx="8402062" cy="3567447"/>
          </a:xfrm>
        </p:spPr>
        <p:txBody>
          <a:bodyPr/>
          <a:lstStyle/>
          <a:p>
            <a:pPr marL="114300" indent="0" algn="just">
              <a:buNone/>
            </a:pPr>
            <a:r>
              <a:rPr lang="en-US" sz="1200" b="1" dirty="0"/>
              <a:t>Model Applicability:</a:t>
            </a:r>
          </a:p>
          <a:p>
            <a:r>
              <a:rPr lang="en-US" sz="1100" dirty="0"/>
              <a:t>Generalizes to any </a:t>
            </a:r>
            <a:r>
              <a:rPr lang="en-US" sz="1100" b="1" dirty="0"/>
              <a:t>business-review network</a:t>
            </a:r>
            <a:r>
              <a:rPr lang="en-US" sz="1100" dirty="0"/>
              <a:t> with:</a:t>
            </a:r>
          </a:p>
          <a:p>
            <a:pPr lvl="1"/>
            <a:r>
              <a:rPr lang="en-US" sz="1100" b="1" dirty="0"/>
              <a:t>Features</a:t>
            </a:r>
            <a:r>
              <a:rPr lang="en-US" sz="1100" dirty="0"/>
              <a:t> for businesses, reviews, and reviewers</a:t>
            </a:r>
          </a:p>
          <a:p>
            <a:pPr lvl="1"/>
            <a:r>
              <a:rPr lang="en-US" sz="1100" b="1" dirty="0"/>
              <a:t>Linkage metadata </a:t>
            </a:r>
            <a:r>
              <a:rPr lang="en-US" sz="1100" dirty="0"/>
              <a:t>(e.g., </a:t>
            </a:r>
            <a:r>
              <a:rPr lang="en-US" sz="1100" dirty="0" err="1"/>
              <a:t>bizId</a:t>
            </a:r>
            <a:r>
              <a:rPr lang="en-US" sz="1100" dirty="0"/>
              <a:t>, </a:t>
            </a:r>
            <a:r>
              <a:rPr lang="en-US" sz="1100" dirty="0" err="1"/>
              <a:t>reviewerId</a:t>
            </a:r>
            <a:r>
              <a:rPr lang="en-US" sz="1100" dirty="0"/>
              <a:t>) for graph construction</a:t>
            </a:r>
          </a:p>
          <a:p>
            <a:pPr lvl="1"/>
            <a:r>
              <a:rPr lang="en-US" sz="1100" dirty="0"/>
              <a:t>with any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#hops/layers (depth)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and the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#neighbors (breadth)</a:t>
            </a:r>
          </a:p>
          <a:p>
            <a:pPr algn="just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Metric selection is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context-driven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 algn="just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Precision </a:t>
            </a:r>
            <a:r>
              <a:rPr lang="en-US" sz="1100" dirty="0"/>
              <a:t>(resource efficiency)</a:t>
            </a:r>
          </a:p>
          <a:p>
            <a:pPr lvl="1" algn="just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Recall (</a:t>
            </a:r>
            <a:r>
              <a:rPr lang="en-US" sz="1100" dirty="0"/>
              <a:t>maximizes illicit business detection)</a:t>
            </a:r>
          </a:p>
          <a:p>
            <a:pPr marL="571500" lvl="1" indent="0" algn="just">
              <a:buNone/>
            </a:pPr>
            <a:endParaRPr lang="en-US" sz="1100" dirty="0"/>
          </a:p>
          <a:p>
            <a:pPr marL="114300" indent="0" algn="just">
              <a:buNone/>
            </a:pPr>
            <a:r>
              <a:rPr lang="en-US" sz="1200" b="1" dirty="0"/>
              <a:t>Broader Impact:</a:t>
            </a:r>
          </a:p>
          <a:p>
            <a:pPr algn="just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Acts as a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decision support framework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for prioritizing investigations </a:t>
            </a:r>
          </a:p>
          <a:p>
            <a:pPr algn="just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Informs:</a:t>
            </a:r>
          </a:p>
          <a:p>
            <a:pPr lvl="1" algn="just"/>
            <a:r>
              <a:rPr lang="en-US" sz="1100" dirty="0"/>
              <a:t>Policy-making &amp; </a:t>
            </a:r>
            <a:r>
              <a:rPr lang="en-US" sz="1100" b="1" dirty="0"/>
              <a:t>resource allocation</a:t>
            </a:r>
          </a:p>
          <a:p>
            <a:pPr lvl="1" algn="just"/>
            <a:r>
              <a:rPr lang="en-US" sz="1100" b="1" dirty="0"/>
              <a:t>Regulatory reforms</a:t>
            </a:r>
            <a:r>
              <a:rPr lang="en-US" sz="1100" dirty="0"/>
              <a:t> and </a:t>
            </a:r>
            <a:r>
              <a:rPr lang="en-US" sz="1100" b="1" dirty="0"/>
              <a:t>labor protections</a:t>
            </a:r>
          </a:p>
          <a:p>
            <a:pPr lvl="1" algn="just"/>
            <a:r>
              <a:rPr lang="en-US" sz="1100" dirty="0"/>
              <a:t>Advocacy for </a:t>
            </a:r>
            <a:r>
              <a:rPr lang="en-US" sz="1100" b="1" dirty="0"/>
              <a:t>transparency</a:t>
            </a:r>
            <a:r>
              <a:rPr lang="en-US" sz="1100" dirty="0"/>
              <a:t> in vulnerable industries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12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/>
            <a:endParaRPr lang="en-US" sz="1200" dirty="0">
              <a:solidFill>
                <a:schemeClr val="dk1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red icon with a check mark and a briefcase&#10;&#10;AI-generated content may be incorrect.">
            <a:extLst>
              <a:ext uri="{FF2B5EF4-FFF2-40B4-BE49-F238E27FC236}">
                <a16:creationId xmlns:a16="http://schemas.microsoft.com/office/drawing/2014/main" id="{52B311B5-D38B-4BF4-1770-81DE59019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778400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856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C4E6E-A277-003D-ECB9-A3A6933C6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4E59096-DCCD-45C5-5813-A35D9CABCCA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476066" y="4767264"/>
            <a:ext cx="1210734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7B8996-3C56-78A3-682C-C28B1F96C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440" y="888711"/>
            <a:ext cx="7452360" cy="516762"/>
          </a:xfrm>
        </p:spPr>
        <p:txBody>
          <a:bodyPr/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Methodology –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Relational Graph Convolutional Network (RGCN)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A red line drawing of a gear and a diagram&#10;&#10;AI-generated content may be incorrect.">
            <a:extLst>
              <a:ext uri="{FF2B5EF4-FFF2-40B4-BE49-F238E27FC236}">
                <a16:creationId xmlns:a16="http://schemas.microsoft.com/office/drawing/2014/main" id="{90E865C1-0EB0-D969-A1DA-B39D3D185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88711"/>
            <a:ext cx="548640" cy="54864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325B3DF-77DE-70D5-CB3A-ADEAA7BA5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19" y="1983026"/>
            <a:ext cx="8686800" cy="208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8C2E32-4AA4-E023-8B29-BFEAEC4137A3}"/>
              </a:ext>
            </a:extLst>
          </p:cNvPr>
          <p:cNvSpPr/>
          <p:nvPr/>
        </p:nvSpPr>
        <p:spPr>
          <a:xfrm>
            <a:off x="2260600" y="1942213"/>
            <a:ext cx="1949450" cy="16209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FE016F-B9E0-05CE-B4E7-1F40562F644C}"/>
              </a:ext>
            </a:extLst>
          </p:cNvPr>
          <p:cNvSpPr/>
          <p:nvPr/>
        </p:nvSpPr>
        <p:spPr>
          <a:xfrm>
            <a:off x="4273550" y="1910335"/>
            <a:ext cx="2647950" cy="16209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6D8561-0622-D720-DB4F-20895D706D17}"/>
              </a:ext>
            </a:extLst>
          </p:cNvPr>
          <p:cNvSpPr/>
          <p:nvPr/>
        </p:nvSpPr>
        <p:spPr>
          <a:xfrm flipH="1">
            <a:off x="6921500" y="2062735"/>
            <a:ext cx="1949450" cy="16209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B45CC870-8BB7-C459-1A64-08AE0090B0B8}"/>
              </a:ext>
            </a:extLst>
          </p:cNvPr>
          <p:cNvSpPr/>
          <p:nvPr/>
        </p:nvSpPr>
        <p:spPr>
          <a:xfrm>
            <a:off x="2146300" y="2568299"/>
            <a:ext cx="393700" cy="25400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38B62CB5-B504-8DE4-DD56-BB6632953E55}"/>
              </a:ext>
            </a:extLst>
          </p:cNvPr>
          <p:cNvSpPr/>
          <p:nvPr/>
        </p:nvSpPr>
        <p:spPr>
          <a:xfrm>
            <a:off x="4108450" y="2571750"/>
            <a:ext cx="393700" cy="25400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DD2B2823-9FAB-ECC4-A265-68C34EC0BF51}"/>
              </a:ext>
            </a:extLst>
          </p:cNvPr>
          <p:cNvSpPr/>
          <p:nvPr/>
        </p:nvSpPr>
        <p:spPr>
          <a:xfrm>
            <a:off x="6800850" y="2568299"/>
            <a:ext cx="393700" cy="25400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EBF0CA-C07F-F674-B133-52447453DB55}"/>
              </a:ext>
            </a:extLst>
          </p:cNvPr>
          <p:cNvSpPr txBox="1"/>
          <p:nvPr/>
        </p:nvSpPr>
        <p:spPr>
          <a:xfrm>
            <a:off x="2443053" y="4544079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83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12759-6120-A3FB-D94E-C0117C3EC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969" y="1418531"/>
            <a:ext cx="8402062" cy="3182044"/>
          </a:xfrm>
        </p:spPr>
        <p:txBody>
          <a:bodyPr/>
          <a:lstStyle/>
          <a:p>
            <a:pPr marL="114300" indent="0" algn="just"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Heterogeneous Graph/Network Construction: (V, E, R)</a:t>
            </a:r>
          </a:p>
          <a:p>
            <a:pPr marL="114300" indent="0" algn="just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V: set of nodes (businesses, reviews, and reviewers)</a:t>
            </a:r>
          </a:p>
          <a:p>
            <a:pPr marL="114300" indent="0" algn="just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E: set of edges (business – review, and review – reviewer)</a:t>
            </a:r>
          </a:p>
          <a:p>
            <a:pPr marL="114300" indent="0" algn="just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R: set of relations (has review {for business – review}, and written by {for review – reviewer})</a:t>
            </a:r>
          </a:p>
          <a:p>
            <a:pPr marL="114300" indent="0" algn="just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Message Passing and Aggregation in RGCNs: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 three-step process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Message Passing: p</a:t>
            </a:r>
            <a:r>
              <a:rPr lang="en-US" sz="1200" dirty="0"/>
              <a:t>ropagates information over a node’s receptive field, preserving relation semantics.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Aggregation: g</a:t>
            </a:r>
            <a:r>
              <a:rPr lang="en-US" sz="1200" dirty="0"/>
              <a:t>athers messages from neighbors, grouped by relation type.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Representation Update: combines node features and aggregated messages, followed by non-linear activation</a:t>
            </a:r>
          </a:p>
          <a:p>
            <a:pPr marL="114300" indent="0" algn="just">
              <a:buNone/>
            </a:pPr>
            <a:endParaRPr 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Final Classifier: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final business node embeddings from the RGCN are passed through a logistic regression classifier</a:t>
            </a:r>
          </a:p>
          <a:p>
            <a:pPr lvl="1"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Linear transformation followed by sigmoid activation</a:t>
            </a:r>
          </a:p>
          <a:p>
            <a:pPr lvl="1"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Classification threshold set to 0.5</a:t>
            </a:r>
          </a:p>
          <a:p>
            <a:pPr marL="114300" indent="0" algn="just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12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/>
            <a:endParaRPr lang="en-US" sz="1200" dirty="0">
              <a:solidFill>
                <a:schemeClr val="dk1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FB164-A9AC-3033-42F0-841BD1149B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A7B2859-C69A-9855-D12D-CC800DF91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440" y="888711"/>
            <a:ext cx="7452360" cy="516762"/>
          </a:xfrm>
        </p:spPr>
        <p:txBody>
          <a:bodyPr/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Methodology –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Relational Graph Convolutional Network (RGCN)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 descr="A red line drawing of a gear and a diagram&#10;&#10;AI-generated content may be incorrect.">
            <a:extLst>
              <a:ext uri="{FF2B5EF4-FFF2-40B4-BE49-F238E27FC236}">
                <a16:creationId xmlns:a16="http://schemas.microsoft.com/office/drawing/2014/main" id="{0B2709E7-2314-7CD1-234D-86C531716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88711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084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F072C-FCE6-CFE0-DEC6-02BCF3EA2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4DE54-9ADF-E77C-8E56-E8D652553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440" y="888711"/>
            <a:ext cx="4449521" cy="516762"/>
          </a:xfrm>
        </p:spPr>
        <p:txBody>
          <a:bodyPr/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Labeling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b="0" dirty="0">
                <a:latin typeface="Times New Roman" panose="02020603050405020304" pitchFamily="18" charset="0"/>
                <a:cs typeface="Arial" panose="020B0604020202020204" pitchFamily="34" charset="0"/>
              </a:rPr>
              <a:t>“L</a:t>
            </a:r>
            <a:r>
              <a:rPr lang="en-US" sz="800" b="0" dirty="0">
                <a:effectLst/>
                <a:latin typeface="Times New Roman" panose="02020603050405020304" pitchFamily="18" charset="0"/>
              </a:rPr>
              <a:t>i, R., Tobey, M., Mayorga, M., Caltagirone, S., &amp; </a:t>
            </a:r>
            <a:r>
              <a:rPr lang="az-Cyrl-AZ" sz="800" b="0" dirty="0">
                <a:effectLst/>
                <a:latin typeface="Times New Roman" panose="02020603050405020304" pitchFamily="18" charset="0"/>
              </a:rPr>
              <a:t>Ӧ</a:t>
            </a:r>
            <a:r>
              <a:rPr lang="en-US" sz="800" b="0" dirty="0" err="1">
                <a:effectLst/>
                <a:latin typeface="Times New Roman" panose="02020603050405020304" pitchFamily="18" charset="0"/>
              </a:rPr>
              <a:t>zaltın</a:t>
            </a:r>
            <a:r>
              <a:rPr lang="en-US" sz="800" b="0" dirty="0">
                <a:effectLst/>
                <a:latin typeface="Times New Roman" panose="02020603050405020304" pitchFamily="18" charset="0"/>
              </a:rPr>
              <a:t>, O. Detecting Human Trafficking: Automated classification of online customer reviews of massage businesses. </a:t>
            </a:r>
            <a:r>
              <a:rPr lang="en-US" sz="800" b="0" i="1" dirty="0">
                <a:effectLst/>
                <a:latin typeface="Times New Roman" panose="02020603050405020304" pitchFamily="18" charset="0"/>
              </a:rPr>
              <a:t>MSOM, 2023</a:t>
            </a:r>
            <a:r>
              <a:rPr lang="en-US" sz="800" b="0" dirty="0">
                <a:effectLst/>
                <a:latin typeface="Times New Roman" panose="02020603050405020304" pitchFamily="18" charset="0"/>
              </a:rPr>
              <a:t>.” </a:t>
            </a:r>
            <a:endParaRPr lang="en-US" sz="2400" b="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D6AB7-8618-0549-DA1F-7775C5680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75799"/>
            <a:ext cx="7376160" cy="2980867"/>
          </a:xfrm>
        </p:spPr>
        <p:txBody>
          <a:bodyPr/>
          <a:lstStyle/>
          <a:p>
            <a:pPr marL="114300" indent="0" algn="just">
              <a:buNone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labeling procedure for the businesses (in previous work) was developed using the data sources and the criteria mentioned below for Washington D.C., Georgia, Florida, and Texas. </a:t>
            </a:r>
          </a:p>
          <a:p>
            <a:pPr marL="114300" indent="0" algn="just">
              <a:buNone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Multi-source data used:</a:t>
            </a:r>
          </a:p>
          <a:p>
            <a:pPr algn="just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sites: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Yelp.com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RubMaps.ch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(e.g., average rating, business name, phone number, etc.)</a:t>
            </a:r>
          </a:p>
          <a:p>
            <a:pPr algn="just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GIS (e.g., distance to truck stops), Census (e.g., housing and demographic information), and landcover type</a:t>
            </a:r>
          </a:p>
          <a:p>
            <a:pPr algn="just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Massage Businesses’ license records</a:t>
            </a:r>
          </a:p>
          <a:p>
            <a:pPr marL="114300" indent="0" algn="just">
              <a:buNone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Labeling criteria:</a:t>
            </a:r>
          </a:p>
          <a:p>
            <a:pPr algn="just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features from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RubMaps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information (review count, last review date, specific lexicon) and license disciplinary data (status = surrendered, suspended, revoked)</a:t>
            </a:r>
          </a:p>
          <a:p>
            <a:pPr marL="114300" indent="0" algn="just">
              <a:buNone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Outcome: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Labeling method for massage businesses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71087-42B0-CD86-CDBA-810A7064C8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oogle Shape;241;g2e1b59d12bd_9_68" descr="Yelp logo">
            <a:extLst>
              <a:ext uri="{FF2B5EF4-FFF2-40B4-BE49-F238E27FC236}">
                <a16:creationId xmlns:a16="http://schemas.microsoft.com/office/drawing/2014/main" id="{A3CD2D69-B1CB-7D10-98A2-36CA8E3562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8498" b="15816"/>
          <a:stretch/>
        </p:blipFill>
        <p:spPr>
          <a:xfrm>
            <a:off x="5683962" y="1007611"/>
            <a:ext cx="1334038" cy="49286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" name="Google Shape;239;g2e1b59d12bd_9_68" descr="Rub Maps logo">
            <a:extLst>
              <a:ext uri="{FF2B5EF4-FFF2-40B4-BE49-F238E27FC236}">
                <a16:creationId xmlns:a16="http://schemas.microsoft.com/office/drawing/2014/main" id="{A3E775F2-8F40-5036-E102-98E8130784A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85742" y="942890"/>
            <a:ext cx="1133316" cy="6223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Picture 6" descr="A red icon of a book and a folder&#10;&#10;AI-generated content may be incorrect.">
            <a:extLst>
              <a:ext uri="{FF2B5EF4-FFF2-40B4-BE49-F238E27FC236}">
                <a16:creationId xmlns:a16="http://schemas.microsoft.com/office/drawing/2014/main" id="{0890700F-CAF8-103B-9119-FBEC95FCC2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856833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14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9C69B-4F59-7B57-E8C8-C2BFDF44B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452" y="716986"/>
            <a:ext cx="7542348" cy="516762"/>
          </a:xfrm>
        </p:spPr>
        <p:txBody>
          <a:bodyPr/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sources:</a:t>
            </a:r>
            <a:endParaRPr lang="en-US" sz="24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18DD1-A21C-74BC-5962-F3A11B114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76992"/>
            <a:ext cx="8327037" cy="3004023"/>
          </a:xfrm>
        </p:spPr>
        <p:txBody>
          <a:bodyPr/>
          <a:lstStyle/>
          <a:p>
            <a:pPr marL="114300" indent="0" algn="just">
              <a:buNone/>
            </a:pP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 Features: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Business: categorical to binary feature generation, univariate logistic regression for feature selection	</a:t>
            </a:r>
          </a:p>
          <a:p>
            <a:pPr lvl="1" algn="just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Yelp, GIS, Census, landcover type</a:t>
            </a:r>
          </a:p>
          <a:p>
            <a:pPr lvl="1" algn="just"/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Rubmaps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license records (for labeling only)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Review:</a:t>
            </a:r>
          </a:p>
          <a:p>
            <a:pPr lvl="1" algn="just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Text Embeddings (Doc2Vec followed by PCA)</a:t>
            </a:r>
          </a:p>
          <a:p>
            <a:pPr lvl="1" algn="just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Sentiment Analysis Scores (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RoBERTa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Reviewer:</a:t>
            </a:r>
          </a:p>
          <a:p>
            <a:pPr lvl="1" algn="just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Gender (gender guesser)</a:t>
            </a:r>
          </a:p>
          <a:p>
            <a:pPr marL="114300" indent="0" algn="just">
              <a:buNone/>
            </a:pPr>
            <a:endParaRPr lang="en-US" sz="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a focus on Colorado, Florida, and Texas in this study:</a:t>
            </a:r>
          </a:p>
          <a:p>
            <a:pPr marL="114300" indent="0" algn="just">
              <a:buNone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C9C91-8401-68D8-09A8-C5E0297D52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Google Shape;325;g2e1b59d12bd_9_16">
            <a:extLst>
              <a:ext uri="{FF2B5EF4-FFF2-40B4-BE49-F238E27FC236}">
                <a16:creationId xmlns:a16="http://schemas.microsoft.com/office/drawing/2014/main" id="{4B295CA0-3B6B-29EC-C96D-99BA6476DA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8807952"/>
              </p:ext>
            </p:extLst>
          </p:nvPr>
        </p:nvGraphicFramePr>
        <p:xfrm>
          <a:off x="2081446" y="3756103"/>
          <a:ext cx="2112190" cy="101116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43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700">
                  <a:extLst>
                    <a:ext uri="{9D8B030D-6E8A-4147-A177-3AD203B41FA5}">
                      <a16:colId xmlns:a16="http://schemas.microsoft.com/office/drawing/2014/main" val="3781404080"/>
                    </a:ext>
                  </a:extLst>
                </a:gridCol>
                <a:gridCol w="346841">
                  <a:extLst>
                    <a:ext uri="{9D8B030D-6E8A-4147-A177-3AD203B41FA5}">
                      <a16:colId xmlns:a16="http://schemas.microsoft.com/office/drawing/2014/main" val="342149344"/>
                    </a:ext>
                  </a:extLst>
                </a:gridCol>
              </a:tblGrid>
              <a:tr h="2583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Business Type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CO</a:t>
                      </a: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FL</a:t>
                      </a: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TX</a:t>
                      </a: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1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1926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4774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4699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1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Label = 1 (illicit)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85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157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246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1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Label = 0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1841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4617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4453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1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Imbalance ratio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0.046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0.034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0.055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399AF2D-5733-50BC-42CD-1AF4A908236A}"/>
              </a:ext>
            </a:extLst>
          </p:cNvPr>
          <p:cNvSpPr txBox="1"/>
          <p:nvPr/>
        </p:nvSpPr>
        <p:spPr>
          <a:xfrm>
            <a:off x="2710459" y="4799472"/>
            <a:ext cx="8541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Data</a:t>
            </a:r>
            <a:endParaRPr lang="en-US" sz="800" b="0" i="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red cloud with an arrow pointing down&#10;&#10;AI-generated content may be incorrect.">
            <a:extLst>
              <a:ext uri="{FF2B5EF4-FFF2-40B4-BE49-F238E27FC236}">
                <a16:creationId xmlns:a16="http://schemas.microsoft.com/office/drawing/2014/main" id="{402245CC-7634-58E2-3F0E-DDC1F0F51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46" y="716986"/>
            <a:ext cx="594360" cy="5943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A07AED-6B15-6CCE-8883-B9A13580E0BB}"/>
              </a:ext>
            </a:extLst>
          </p:cNvPr>
          <p:cNvSpPr txBox="1"/>
          <p:nvPr/>
        </p:nvSpPr>
        <p:spPr>
          <a:xfrm>
            <a:off x="4743450" y="3814763"/>
            <a:ext cx="3361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/>
              <a:t>Note: </a:t>
            </a:r>
            <a:r>
              <a:rPr lang="en-US" sz="1200" dirty="0"/>
              <a:t>These imbalance ratio are for the labelled businesses after sampling using strategies, such as location intersection, illicit phrase search, BERT- LR predicted reviews.</a:t>
            </a:r>
          </a:p>
        </p:txBody>
      </p:sp>
    </p:spTree>
    <p:extLst>
      <p:ext uri="{BB962C8B-B14F-4D97-AF65-F5344CB8AC3E}">
        <p14:creationId xmlns:p14="http://schemas.microsoft.com/office/powerpoint/2010/main" val="1049314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4BF72-D7F3-3619-837D-0A8F6B8F1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631AF-861F-D196-BF94-1823F8618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618" y="888711"/>
            <a:ext cx="7605181" cy="516762"/>
          </a:xfrm>
        </p:spPr>
        <p:txBody>
          <a:bodyPr/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Experimental Setup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F3E9C-923E-8479-76D6-C48F99E0BF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5D6F26-870D-8B14-808C-2578B45924EA}"/>
              </a:ext>
            </a:extLst>
          </p:cNvPr>
          <p:cNvSpPr txBox="1"/>
          <p:nvPr/>
        </p:nvSpPr>
        <p:spPr>
          <a:xfrm>
            <a:off x="364654" y="1663388"/>
            <a:ext cx="59842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Imbalance: </a:t>
            </a:r>
            <a:r>
              <a:rPr lang="en-US" sz="14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Undersampling</a:t>
            </a:r>
            <a:r>
              <a:rPr lang="en-US" sz="1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4x non-illicit</a:t>
            </a:r>
            <a:r>
              <a:rPr lang="en-US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than illicit</a:t>
            </a:r>
            <a:endParaRPr lang="en-US" sz="1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Function: </a:t>
            </a:r>
            <a:r>
              <a:rPr lang="en-US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Negative Log-likelihood (NLL)</a:t>
            </a:r>
          </a:p>
          <a:p>
            <a:r>
              <a:rPr lang="en-US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r>
              <a:rPr lang="en-US" sz="14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Metrics: </a:t>
            </a:r>
            <a:r>
              <a:rPr lang="en-US" sz="1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AUC (ROC Curve), Recall, and F1-Score</a:t>
            </a:r>
          </a:p>
          <a:p>
            <a:endParaRPr lang="en-US" sz="1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Hyperparameter Optimization: </a:t>
            </a:r>
            <a:r>
              <a:rPr lang="en-US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Epochs, Dropout, #Layers, #Neighbors</a:t>
            </a:r>
          </a:p>
          <a:p>
            <a:endParaRPr lang="en-US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and Validation Setup:</a:t>
            </a:r>
            <a:r>
              <a:rPr lang="en-US" b="1" dirty="0"/>
              <a:t> </a:t>
            </a:r>
            <a:r>
              <a:rPr lang="en-US" dirty="0"/>
              <a:t>10-fold stratified CV on </a:t>
            </a:r>
            <a:r>
              <a:rPr lang="en-US" dirty="0" err="1"/>
              <a:t>undersampled</a:t>
            </a:r>
            <a:r>
              <a:rPr lang="en-US" dirty="0"/>
              <a:t> data</a:t>
            </a:r>
            <a:endParaRPr lang="en-US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Google Shape;324;g2e1b59d12bd_9_16">
            <a:extLst>
              <a:ext uri="{FF2B5EF4-FFF2-40B4-BE49-F238E27FC236}">
                <a16:creationId xmlns:a16="http://schemas.microsoft.com/office/drawing/2014/main" id="{E33AB7F3-F59A-E9EA-8914-27E58C31B0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7175986"/>
              </p:ext>
            </p:extLst>
          </p:nvPr>
        </p:nvGraphicFramePr>
        <p:xfrm>
          <a:off x="6204469" y="1233343"/>
          <a:ext cx="1940525" cy="105186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3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850">
                  <a:extLst>
                    <a:ext uri="{9D8B030D-6E8A-4147-A177-3AD203B41FA5}">
                      <a16:colId xmlns:a16="http://schemas.microsoft.com/office/drawing/2014/main" val="1270812549"/>
                    </a:ext>
                  </a:extLst>
                </a:gridCol>
                <a:gridCol w="325775">
                  <a:extLst>
                    <a:ext uri="{9D8B030D-6E8A-4147-A177-3AD203B41FA5}">
                      <a16:colId xmlns:a16="http://schemas.microsoft.com/office/drawing/2014/main" val="899240026"/>
                    </a:ext>
                  </a:extLst>
                </a:gridCol>
              </a:tblGrid>
              <a:tr h="26982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b="1" i="0" u="none" strike="noStrike" cap="none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Undersampled</a:t>
                      </a:r>
                      <a:r>
                        <a:rPr lang="en-US" sz="1000" b="1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Business Type</a:t>
                      </a:r>
                      <a:endParaRPr lang="en-US" sz="10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CO</a:t>
                      </a: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FL</a:t>
                      </a: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TX</a:t>
                      </a: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3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Total</a:t>
                      </a:r>
                      <a:endParaRPr lang="en-US"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425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785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1230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1948718189"/>
                  </a:ext>
                </a:extLst>
              </a:tr>
              <a:tr h="18533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Label = 1 (illi</a:t>
                      </a:r>
                      <a:r>
                        <a:rPr lang="en-US" sz="100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cit)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85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157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246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33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Label = 0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340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628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984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33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Imbalance ratio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0.25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0.25</a:t>
                      </a:r>
                      <a:endParaRPr lang="en-US"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0.25</a:t>
                      </a:r>
                      <a:endParaRPr lang="en-US"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" name="Google Shape;324;g2e1b59d12bd_9_16">
            <a:extLst>
              <a:ext uri="{FF2B5EF4-FFF2-40B4-BE49-F238E27FC236}">
                <a16:creationId xmlns:a16="http://schemas.microsoft.com/office/drawing/2014/main" id="{1CFC1350-9186-83FF-A6DB-CF7DE6A9F8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8370316"/>
              </p:ext>
            </p:extLst>
          </p:nvPr>
        </p:nvGraphicFramePr>
        <p:xfrm>
          <a:off x="6348894" y="2695880"/>
          <a:ext cx="1706202" cy="193782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83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82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Hyperparameter</a:t>
                      </a:r>
                      <a:endParaRPr lang="en-US" sz="10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Value</a:t>
                      </a: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3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#Layers</a:t>
                      </a:r>
                      <a:endParaRPr lang="en-US"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1948718189"/>
                  </a:ext>
                </a:extLst>
              </a:tr>
              <a:tr h="18533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Batch Size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128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33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Hidden Dimensions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33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Dropout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533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Epochs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916401150"/>
                  </a:ext>
                </a:extLst>
              </a:tr>
              <a:tr h="18533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Early Stopping criteria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766802453"/>
                  </a:ext>
                </a:extLst>
              </a:tr>
              <a:tr h="18533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#Neighbors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3590714714"/>
                  </a:ext>
                </a:extLst>
              </a:tr>
              <a:tr h="18533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Batch Normalization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3441363119"/>
                  </a:ext>
                </a:extLst>
              </a:tr>
              <a:tr h="18533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Self-loop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2661856192"/>
                  </a:ext>
                </a:extLst>
              </a:tr>
            </a:tbl>
          </a:graphicData>
        </a:graphic>
      </p:graphicFrame>
      <p:pic>
        <p:nvPicPr>
          <p:cNvPr id="5" name="Picture 4" descr="A red line drawing of a microscope&#10;&#10;AI-generated content may be incorrect.">
            <a:extLst>
              <a:ext uri="{FF2B5EF4-FFF2-40B4-BE49-F238E27FC236}">
                <a16:creationId xmlns:a16="http://schemas.microsoft.com/office/drawing/2014/main" id="{AE7C9A8C-FAF1-34CF-6BD4-414EA2E1B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41" y="936163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896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6BC67-1E87-45B1-C607-35DA27F30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19942-3883-8CDE-E8B4-362E331B6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51" y="768893"/>
            <a:ext cx="8229600" cy="516762"/>
          </a:xfrm>
        </p:spPr>
        <p:txBody>
          <a:bodyPr/>
          <a:lstStyle/>
          <a:p>
            <a:pPr algn="l"/>
            <a:r>
              <a:rPr lang="en-US" sz="2400" dirty="0"/>
              <a:t>4 Hop Subgraph Heterogeneous Network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F3679D2-646C-9C68-6702-1ECA24FB84B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476066" y="4767264"/>
            <a:ext cx="1210734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diagram of a business&#10;&#10;AI-generated content may be incorrect.">
            <a:extLst>
              <a:ext uri="{FF2B5EF4-FFF2-40B4-BE49-F238E27FC236}">
                <a16:creationId xmlns:a16="http://schemas.microsoft.com/office/drawing/2014/main" id="{E12E5913-36A6-14D1-7221-17D183D5D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867" y="1285655"/>
            <a:ext cx="3729204" cy="3706103"/>
          </a:xfrm>
          <a:prstGeom prst="rect">
            <a:avLst/>
          </a:prstGeom>
        </p:spPr>
      </p:pic>
      <p:graphicFrame>
        <p:nvGraphicFramePr>
          <p:cNvPr id="4" name="Google Shape;324;g2e1b59d12bd_9_16">
            <a:extLst>
              <a:ext uri="{FF2B5EF4-FFF2-40B4-BE49-F238E27FC236}">
                <a16:creationId xmlns:a16="http://schemas.microsoft.com/office/drawing/2014/main" id="{08FF5969-4CEB-7DEA-1B0B-B2011203F0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1820881"/>
              </p:ext>
            </p:extLst>
          </p:nvPr>
        </p:nvGraphicFramePr>
        <p:xfrm>
          <a:off x="5604247" y="1605535"/>
          <a:ext cx="2290525" cy="166432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0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625">
                  <a:extLst>
                    <a:ext uri="{9D8B030D-6E8A-4147-A177-3AD203B41FA5}">
                      <a16:colId xmlns:a16="http://schemas.microsoft.com/office/drawing/2014/main" val="1270812549"/>
                    </a:ext>
                  </a:extLst>
                </a:gridCol>
                <a:gridCol w="395625">
                  <a:extLst>
                    <a:ext uri="{9D8B030D-6E8A-4147-A177-3AD203B41FA5}">
                      <a16:colId xmlns:a16="http://schemas.microsoft.com/office/drawing/2014/main" val="899240026"/>
                    </a:ext>
                  </a:extLst>
                </a:gridCol>
              </a:tblGrid>
              <a:tr h="26982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Node/Edge Type</a:t>
                      </a:r>
                      <a:endParaRPr lang="en-US" sz="10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CO</a:t>
                      </a: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FL</a:t>
                      </a: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TX</a:t>
                      </a: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3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Total Nodes</a:t>
                      </a:r>
                      <a:endParaRPr lang="en-US"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13610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23704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36562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718189"/>
                  </a:ext>
                </a:extLst>
              </a:tr>
              <a:tr h="18533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Business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425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785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1230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33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Review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7662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13584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21824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33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Reviewer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5523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9335</a:t>
                      </a:r>
                      <a:endParaRPr lang="en-US"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13508</a:t>
                      </a:r>
                      <a:endParaRPr lang="en-US"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10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endParaRPr sz="6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6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endParaRPr lang="en-US" sz="6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endParaRPr lang="en-US" sz="6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3555892730"/>
                  </a:ext>
                </a:extLst>
              </a:tr>
              <a:tr h="1853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Total Edges</a:t>
                      </a:r>
                      <a:endParaRPr lang="en-US"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15324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27168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43648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514959"/>
                  </a:ext>
                </a:extLst>
              </a:tr>
              <a:tr h="18533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Business - Review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7662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13584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21824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4028417350"/>
                  </a:ext>
                </a:extLst>
              </a:tr>
              <a:tr h="18533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Review - Reviewer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7662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13584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21824</a:t>
                      </a:r>
                      <a:endParaRPr sz="10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725" marR="5725" marT="5725" marB="0" anchor="ctr"/>
                </a:tc>
                <a:extLst>
                  <a:ext uri="{0D108BD9-81ED-4DB2-BD59-A6C34878D82A}">
                    <a16:rowId xmlns:a16="http://schemas.microsoft.com/office/drawing/2014/main" val="415381553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78EFB34-9A56-2447-E5B6-324CB45DF1C7}"/>
              </a:ext>
            </a:extLst>
          </p:cNvPr>
          <p:cNvSpPr txBox="1"/>
          <p:nvPr/>
        </p:nvSpPr>
        <p:spPr>
          <a:xfrm>
            <a:off x="5226304" y="3481066"/>
            <a:ext cx="3324939" cy="547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70000"/>
              </a:lnSpc>
              <a:buClr>
                <a:schemeClr val="dk1"/>
              </a:buClr>
              <a:buSzPts val="1628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Takeaway:</a:t>
            </a:r>
          </a:p>
          <a:p>
            <a:pPr lvl="0" algn="just">
              <a:lnSpc>
                <a:spcPct val="70000"/>
              </a:lnSpc>
              <a:buClr>
                <a:schemeClr val="dk1"/>
              </a:buClr>
              <a:buSzPts val="1628"/>
            </a:pPr>
            <a:endParaRPr lang="en-US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70000"/>
              </a:lnSpc>
              <a:buClr>
                <a:schemeClr val="dk1"/>
              </a:buClr>
              <a:buSzPts val="1628"/>
            </a:pPr>
            <a:r>
              <a:rPr lang="en-US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 produces the sparsest network </a:t>
            </a:r>
          </a:p>
        </p:txBody>
      </p:sp>
    </p:spTree>
    <p:extLst>
      <p:ext uri="{BB962C8B-B14F-4D97-AF65-F5344CB8AC3E}">
        <p14:creationId xmlns:p14="http://schemas.microsoft.com/office/powerpoint/2010/main" val="245508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DEECA-9B40-672E-457E-611D8A09C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C0409-0832-639C-AE60-2501012E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932" y="888711"/>
            <a:ext cx="7592867" cy="516762"/>
          </a:xfrm>
        </p:spPr>
        <p:txBody>
          <a:bodyPr/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Numerical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55F75-DD59-4C79-E503-DDD6E0B321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34D16A-85B6-4740-6AB6-3A0BDFF2CC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569592"/>
              </p:ext>
            </p:extLst>
          </p:nvPr>
        </p:nvGraphicFramePr>
        <p:xfrm>
          <a:off x="2451199" y="1521998"/>
          <a:ext cx="4241602" cy="2407005"/>
        </p:xfrm>
        <a:graphic>
          <a:graphicData uri="http://schemas.openxmlformats.org/drawingml/2006/table">
            <a:tbl>
              <a:tblPr>
                <a:tableStyleId>{0F2BCAAC-4C9D-45B1-B77F-283C58D4C818}</a:tableStyleId>
              </a:tblPr>
              <a:tblGrid>
                <a:gridCol w="760821">
                  <a:extLst>
                    <a:ext uri="{9D8B030D-6E8A-4147-A177-3AD203B41FA5}">
                      <a16:colId xmlns:a16="http://schemas.microsoft.com/office/drawing/2014/main" val="3140734387"/>
                    </a:ext>
                  </a:extLst>
                </a:gridCol>
                <a:gridCol w="1404348">
                  <a:extLst>
                    <a:ext uri="{9D8B030D-6E8A-4147-A177-3AD203B41FA5}">
                      <a16:colId xmlns:a16="http://schemas.microsoft.com/office/drawing/2014/main" val="1828522906"/>
                    </a:ext>
                  </a:extLst>
                </a:gridCol>
                <a:gridCol w="569891">
                  <a:extLst>
                    <a:ext uri="{9D8B030D-6E8A-4147-A177-3AD203B41FA5}">
                      <a16:colId xmlns:a16="http://schemas.microsoft.com/office/drawing/2014/main" val="4158436106"/>
                    </a:ext>
                  </a:extLst>
                </a:gridCol>
                <a:gridCol w="745721">
                  <a:extLst>
                    <a:ext uri="{9D8B030D-6E8A-4147-A177-3AD203B41FA5}">
                      <a16:colId xmlns:a16="http://schemas.microsoft.com/office/drawing/2014/main" val="471071645"/>
                    </a:ext>
                  </a:extLst>
                </a:gridCol>
                <a:gridCol w="760821">
                  <a:extLst>
                    <a:ext uri="{9D8B030D-6E8A-4147-A177-3AD203B41FA5}">
                      <a16:colId xmlns:a16="http://schemas.microsoft.com/office/drawing/2014/main" val="3451611214"/>
                    </a:ext>
                  </a:extLst>
                </a:gridCol>
              </a:tblGrid>
              <a:tr h="18303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u="none" strike="noStrike" dirty="0">
                          <a:effectLst/>
                        </a:rPr>
                        <a:t>State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u="none" strike="noStrike" dirty="0">
                          <a:effectLst/>
                        </a:rPr>
                        <a:t>Model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u="none" strike="noStrike" dirty="0">
                          <a:effectLst/>
                        </a:rPr>
                        <a:t>Recall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u="none" strike="noStrike" dirty="0">
                          <a:effectLst/>
                        </a:rPr>
                        <a:t>F1-Score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u="none" strike="noStrike" dirty="0">
                          <a:effectLst/>
                        </a:rPr>
                        <a:t>AUC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/>
                </a:tc>
                <a:extLst>
                  <a:ext uri="{0D108BD9-81ED-4DB2-BD59-A6C34878D82A}">
                    <a16:rowId xmlns:a16="http://schemas.microsoft.com/office/drawing/2014/main" val="4079347180"/>
                  </a:ext>
                </a:extLst>
              </a:tr>
              <a:tr h="186097"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CO</a:t>
                      </a:r>
                    </a:p>
                  </a:txBody>
                  <a:tcPr marL="5735" marR="5735" marT="57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Logistic Reg.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0.2941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0.4348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0.8279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extLst>
                  <a:ext uri="{0D108BD9-81ED-4DB2-BD59-A6C34878D82A}">
                    <a16:rowId xmlns:a16="http://schemas.microsoft.com/office/drawing/2014/main" val="2714284579"/>
                  </a:ext>
                </a:extLst>
              </a:tr>
              <a:tr h="1860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Logistic Reg. (</a:t>
                      </a:r>
                      <a:r>
                        <a:rPr lang="en-US" sz="1000" u="none" strike="noStrike" dirty="0" err="1">
                          <a:effectLst/>
                        </a:rPr>
                        <a:t>bal</a:t>
                      </a:r>
                      <a:r>
                        <a:rPr lang="en-US" sz="1000" u="none" strike="noStrike" dirty="0">
                          <a:effectLst/>
                        </a:rPr>
                        <a:t>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0.5294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0.5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0.8209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extLst>
                  <a:ext uri="{0D108BD9-81ED-4DB2-BD59-A6C34878D82A}">
                    <a16:rowId xmlns:a16="http://schemas.microsoft.com/office/drawing/2014/main" val="3967551013"/>
                  </a:ext>
                </a:extLst>
              </a:tr>
              <a:tr h="1860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Random Forest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0.2353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0.3478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0.8183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extLst>
                  <a:ext uri="{0D108BD9-81ED-4DB2-BD59-A6C34878D82A}">
                    <a16:rowId xmlns:a16="http://schemas.microsoft.com/office/drawing/2014/main" val="4180039043"/>
                  </a:ext>
                </a:extLst>
              </a:tr>
              <a:tr h="183033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u="none" strike="noStrike" dirty="0">
                          <a:effectLst/>
                        </a:rPr>
                        <a:t>RGCN_LR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0.4706</a:t>
                      </a:r>
                      <a:endParaRPr 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0.5333</a:t>
                      </a:r>
                      <a:endParaRPr lang="en-US" sz="10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u="none" strike="noStrike" dirty="0">
                          <a:effectLst/>
                        </a:rPr>
                        <a:t>0.7889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665351"/>
                  </a:ext>
                </a:extLst>
              </a:tr>
              <a:tr h="186097"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</a:t>
                      </a:r>
                    </a:p>
                  </a:txBody>
                  <a:tcPr marL="5735" marR="5735" marT="57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Logistic Reg.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0.8065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0.8621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0.9119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extLst>
                  <a:ext uri="{0D108BD9-81ED-4DB2-BD59-A6C34878D82A}">
                    <a16:rowId xmlns:a16="http://schemas.microsoft.com/office/drawing/2014/main" val="119597579"/>
                  </a:ext>
                </a:extLst>
              </a:tr>
              <a:tr h="1860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Logistic Reg. (bal)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0.8065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0.8333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0.9112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extLst>
                  <a:ext uri="{0D108BD9-81ED-4DB2-BD59-A6C34878D82A}">
                    <a16:rowId xmlns:a16="http://schemas.microsoft.com/office/drawing/2014/main" val="609853328"/>
                  </a:ext>
                </a:extLst>
              </a:tr>
              <a:tr h="1860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Random Forest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0.8387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0.8814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0.9192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extLst>
                  <a:ext uri="{0D108BD9-81ED-4DB2-BD59-A6C34878D82A}">
                    <a16:rowId xmlns:a16="http://schemas.microsoft.com/office/drawing/2014/main" val="2266287021"/>
                  </a:ext>
                </a:extLst>
              </a:tr>
              <a:tr h="183033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u="none" strike="noStrike" dirty="0">
                          <a:effectLst/>
                        </a:rPr>
                        <a:t>RGCN_LR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u="none" strike="noStrike" dirty="0">
                          <a:effectLst/>
                        </a:rPr>
                        <a:t>0.8065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u="none" strike="noStrike" dirty="0">
                          <a:effectLst/>
                        </a:rPr>
                        <a:t>0.8475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u="none" strike="noStrike" dirty="0">
                          <a:effectLst/>
                        </a:rPr>
                        <a:t>0.9099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377098"/>
                  </a:ext>
                </a:extLst>
              </a:tr>
              <a:tr h="186097"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TX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Logistic Reg.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0.7755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0.8352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0.986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extLst>
                  <a:ext uri="{0D108BD9-81ED-4DB2-BD59-A6C34878D82A}">
                    <a16:rowId xmlns:a16="http://schemas.microsoft.com/office/drawing/2014/main" val="2744347888"/>
                  </a:ext>
                </a:extLst>
              </a:tr>
              <a:tr h="1860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Logistic Reg. (bal)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0.898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0.8544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0.9853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extLst>
                  <a:ext uri="{0D108BD9-81ED-4DB2-BD59-A6C34878D82A}">
                    <a16:rowId xmlns:a16="http://schemas.microsoft.com/office/drawing/2014/main" val="3587044589"/>
                  </a:ext>
                </a:extLst>
              </a:tr>
              <a:tr h="1860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Random Forest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0.7143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0.8235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0.9743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/>
                </a:tc>
                <a:extLst>
                  <a:ext uri="{0D108BD9-81ED-4DB2-BD59-A6C34878D82A}">
                    <a16:rowId xmlns:a16="http://schemas.microsoft.com/office/drawing/2014/main" val="3985715938"/>
                  </a:ext>
                </a:extLst>
              </a:tr>
              <a:tr h="183033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735" marR="5735" marT="57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u="none" strike="noStrike" dirty="0">
                          <a:effectLst/>
                        </a:rPr>
                        <a:t>RGCN_LR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u="none" strike="noStrike" dirty="0">
                          <a:effectLst/>
                        </a:rPr>
                        <a:t>0.7755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u="none" strike="noStrike" dirty="0">
                          <a:effectLst/>
                        </a:rPr>
                        <a:t>0.8261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u="none" strike="noStrike" dirty="0">
                          <a:effectLst/>
                        </a:rPr>
                        <a:t>0.9826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35" marR="5735" marT="573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7356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16A9E28-3074-96EA-934C-94218E89A862}"/>
              </a:ext>
            </a:extLst>
          </p:cNvPr>
          <p:cNvSpPr txBox="1"/>
          <p:nvPr/>
        </p:nvSpPr>
        <p:spPr>
          <a:xfrm>
            <a:off x="580564" y="4045528"/>
            <a:ext cx="7982871" cy="91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70000"/>
              </a:lnSpc>
              <a:buClr>
                <a:schemeClr val="dk1"/>
              </a:buClr>
              <a:buSzPts val="1628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Takeaways:</a:t>
            </a:r>
          </a:p>
          <a:p>
            <a:pPr marL="285750" lvl="0" indent="-285750" algn="just">
              <a:lnSpc>
                <a:spcPct val="70000"/>
              </a:lnSpc>
              <a:buClr>
                <a:schemeClr val="dk1"/>
              </a:buClr>
              <a:buSzPts val="1628"/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70000"/>
              </a:lnSpc>
              <a:buClr>
                <a:schemeClr val="dk1"/>
              </a:buClr>
              <a:buSzPts val="1628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RGCN_LR shows an improvement of </a:t>
            </a:r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0.18 in Recall </a:t>
            </a:r>
            <a:r>
              <a:rPr lang="en-US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0.10 in F1-Score </a:t>
            </a:r>
            <a:r>
              <a:rPr lang="en-US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compared to logistic regression for the CO dataset </a:t>
            </a:r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(highlighting its ability to leverage network-informed learning in scarce data</a:t>
            </a:r>
            <a:r>
              <a:rPr lang="en-US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0" algn="just">
              <a:lnSpc>
                <a:spcPct val="70000"/>
              </a:lnSpc>
              <a:buClr>
                <a:schemeClr val="dk1"/>
              </a:buClr>
              <a:buSzPts val="1628"/>
            </a:pPr>
            <a:endParaRPr lang="en-US" sz="12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70000"/>
              </a:lnSpc>
              <a:buClr>
                <a:schemeClr val="dk1"/>
              </a:buClr>
              <a:buSzPts val="1628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RGCN_LR also maintains </a:t>
            </a:r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competitive AUC </a:t>
            </a:r>
            <a:r>
              <a:rPr lang="en-US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values across all other states.</a:t>
            </a:r>
          </a:p>
        </p:txBody>
      </p:sp>
      <p:pic>
        <p:nvPicPr>
          <p:cNvPr id="7" name="Picture 6" descr="A red graph with a arrow pointing up&#10;&#10;AI-generated content may be incorrect.">
            <a:extLst>
              <a:ext uri="{FF2B5EF4-FFF2-40B4-BE49-F238E27FC236}">
                <a16:creationId xmlns:a16="http://schemas.microsoft.com/office/drawing/2014/main" id="{0F2096E6-7766-65E7-0344-DBAC144DE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72" y="888711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974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145A5-AF59-4D52-59D5-257691F29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AA001-A2FA-2569-43B2-0C4B33238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891516"/>
            <a:ext cx="7680960" cy="516762"/>
          </a:xfrm>
        </p:spPr>
        <p:txBody>
          <a:bodyPr/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504EC-097F-17C0-5E63-E2CA0C3A36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2FED2D-2F67-EE12-06BB-FDA36AFD9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55939"/>
            <a:ext cx="8229600" cy="936594"/>
          </a:xfrm>
        </p:spPr>
        <p:txBody>
          <a:bodyPr/>
          <a:lstStyle/>
          <a:p>
            <a:r>
              <a:rPr lang="en-US" sz="1200" dirty="0"/>
              <a:t>Conducted a </a:t>
            </a:r>
            <a:r>
              <a:rPr lang="en-US" sz="1200" b="1" dirty="0"/>
              <a:t>feasibility study</a:t>
            </a:r>
            <a:r>
              <a:rPr lang="en-US" sz="1200" dirty="0"/>
              <a:t> to detect </a:t>
            </a:r>
            <a:r>
              <a:rPr lang="en-US" sz="1200" b="1" dirty="0"/>
              <a:t>illicit massage businesses (IMBs)</a:t>
            </a:r>
            <a:r>
              <a:rPr lang="en-US" sz="1200" dirty="0"/>
              <a:t> using a </a:t>
            </a:r>
            <a:r>
              <a:rPr lang="en-US" sz="1200" b="1" dirty="0"/>
              <a:t>Relational Graph Convolutional Network (RGCN)</a:t>
            </a:r>
            <a:r>
              <a:rPr lang="en-US" sz="1200" dirty="0"/>
              <a:t> on business-review data</a:t>
            </a:r>
          </a:p>
          <a:p>
            <a:r>
              <a:rPr lang="en-US" sz="1200" dirty="0"/>
              <a:t>Achieved </a:t>
            </a:r>
            <a:r>
              <a:rPr lang="en-US" sz="1200" b="1" dirty="0"/>
              <a:t>competitive performance</a:t>
            </a:r>
            <a:r>
              <a:rPr lang="en-US" sz="1200" dirty="0"/>
              <a:t>, especially strong on the </a:t>
            </a:r>
            <a:r>
              <a:rPr lang="en-US" sz="1200" b="1" dirty="0"/>
              <a:t>smallest dataset</a:t>
            </a:r>
            <a:r>
              <a:rPr lang="en-US" sz="1200" dirty="0"/>
              <a:t>, highlighting value of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network-informed learning </a:t>
            </a:r>
            <a:endParaRPr lang="en-US" sz="12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A03C2D-EB1C-4151-E368-5DE0E9E84E7F}"/>
              </a:ext>
            </a:extLst>
          </p:cNvPr>
          <p:cNvSpPr txBox="1">
            <a:spLocks/>
          </p:cNvSpPr>
          <p:nvPr/>
        </p:nvSpPr>
        <p:spPr>
          <a:xfrm>
            <a:off x="1005840" y="2714529"/>
            <a:ext cx="7613394" cy="516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30E07CB-3867-2933-3DF7-A0C9FBAE12CC}"/>
              </a:ext>
            </a:extLst>
          </p:cNvPr>
          <p:cNvSpPr txBox="1">
            <a:spLocks/>
          </p:cNvSpPr>
          <p:nvPr/>
        </p:nvSpPr>
        <p:spPr>
          <a:xfrm>
            <a:off x="457200" y="3278952"/>
            <a:ext cx="822960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200" b="1" dirty="0"/>
              <a:t>Marginal gains</a:t>
            </a:r>
            <a:r>
              <a:rPr lang="en-US" sz="1200" dirty="0"/>
              <a:t> from review/reviewer nodes suggest the need for </a:t>
            </a:r>
            <a:r>
              <a:rPr lang="en-US" sz="1200" b="1" dirty="0"/>
              <a:t>denser network connectivity</a:t>
            </a:r>
          </a:p>
          <a:p>
            <a:pPr lvl="1"/>
            <a:r>
              <a:rPr lang="en-US" sz="1200" dirty="0"/>
              <a:t>Incorporating </a:t>
            </a:r>
            <a:r>
              <a:rPr lang="en-US" sz="1200" b="1" dirty="0"/>
              <a:t>license</a:t>
            </a:r>
            <a:r>
              <a:rPr lang="en-US" sz="1200" dirty="0"/>
              <a:t> and </a:t>
            </a:r>
            <a:r>
              <a:rPr lang="en-US" sz="1200" b="1" dirty="0"/>
              <a:t>financial </a:t>
            </a:r>
            <a:r>
              <a:rPr lang="en-US" sz="1200" dirty="0"/>
              <a:t>records</a:t>
            </a:r>
          </a:p>
          <a:p>
            <a:r>
              <a:rPr lang="en-US" sz="1200" b="1" dirty="0"/>
              <a:t>Architectural extensions</a:t>
            </a:r>
            <a:r>
              <a:rPr lang="en-US" sz="1200" dirty="0"/>
              <a:t>:</a:t>
            </a:r>
          </a:p>
          <a:p>
            <a:pPr lvl="1"/>
            <a:r>
              <a:rPr lang="en-US" sz="1200" dirty="0"/>
              <a:t>Adding </a:t>
            </a:r>
            <a:r>
              <a:rPr lang="en-US" sz="1200" b="1" dirty="0"/>
              <a:t>multi-node-type classification</a:t>
            </a:r>
          </a:p>
          <a:p>
            <a:pPr lvl="1"/>
            <a:r>
              <a:rPr lang="en-US" sz="1200" b="1" dirty="0"/>
              <a:t>Cross-business link prediction</a:t>
            </a:r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pic>
        <p:nvPicPr>
          <p:cNvPr id="6" name="Picture 5" descr="A diagram of a graph&#10;&#10;Description automatically generated">
            <a:extLst>
              <a:ext uri="{FF2B5EF4-FFF2-40B4-BE49-F238E27FC236}">
                <a16:creationId xmlns:a16="http://schemas.microsoft.com/office/drawing/2014/main" id="{8E45C8FC-BCBA-C1E0-9632-0591AD590A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3" t="43195"/>
          <a:stretch/>
        </p:blipFill>
        <p:spPr>
          <a:xfrm>
            <a:off x="4452151" y="3617810"/>
            <a:ext cx="2942948" cy="1096366"/>
          </a:xfrm>
          <a:prstGeom prst="rect">
            <a:avLst/>
          </a:prstGeom>
        </p:spPr>
      </p:pic>
      <p:pic>
        <p:nvPicPr>
          <p:cNvPr id="10" name="Picture 9" descr="A red line art of a clipboard with a globe and a check mark&#10;&#10;AI-generated content may be incorrect.">
            <a:extLst>
              <a:ext uri="{FF2B5EF4-FFF2-40B4-BE49-F238E27FC236}">
                <a16:creationId xmlns:a16="http://schemas.microsoft.com/office/drawing/2014/main" id="{669FD907-90CF-2BE9-FF77-45E6E91C5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875577"/>
            <a:ext cx="594360" cy="594360"/>
          </a:xfrm>
          <a:prstGeom prst="rect">
            <a:avLst/>
          </a:prstGeom>
        </p:spPr>
      </p:pic>
      <p:pic>
        <p:nvPicPr>
          <p:cNvPr id="12" name="Picture 11" descr="A red line art of a clipboard with a globe and a check mark&#10;&#10;AI-generated content may be incorrect.">
            <a:extLst>
              <a:ext uri="{FF2B5EF4-FFF2-40B4-BE49-F238E27FC236}">
                <a16:creationId xmlns:a16="http://schemas.microsoft.com/office/drawing/2014/main" id="{97B268D3-05CF-3579-5CE6-4C00E28F5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29" y="273031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26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19D11-3A28-014B-D29D-B127868C2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127504"/>
            <a:ext cx="8265111" cy="2881977"/>
          </a:xfrm>
        </p:spPr>
        <p:txBody>
          <a:bodyPr/>
          <a:lstStyle/>
          <a:p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</a:rPr>
              <a:t>This work was supported by the Criminal Investigations Network Analysis Center (CINA) and our collaborators at the Global Emancipation Network (GEN)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solidFill>
                  <a:srgbClr val="C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Vasuki Garg - vgarg5@ncsu.edu</a:t>
            </a:r>
            <a:endParaRPr lang="en-US" sz="2800" dirty="0">
              <a:solidFill>
                <a:srgbClr val="C1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A77F2-4049-CE1D-F4BD-0C72D05C58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15D3E-58D2-B1BA-DDA7-2D3697C20D4E}"/>
              </a:ext>
            </a:extLst>
          </p:cNvPr>
          <p:cNvSpPr txBox="1"/>
          <p:nvPr/>
        </p:nvSpPr>
        <p:spPr>
          <a:xfrm>
            <a:off x="457200" y="914201"/>
            <a:ext cx="826511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FOR MORE DETAILS: 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synthetic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dataset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and the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are available 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GitHub: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https://github.com/Vasuki-Garg/rgcn-imb-detection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173614"/>
      </p:ext>
    </p:extLst>
  </p:cSld>
  <p:clrMapOvr>
    <a:masterClrMapping/>
  </p:clrMapOvr>
</p:sld>
</file>

<file path=ppt/theme/theme1.xml><?xml version="1.0" encoding="utf-8"?>
<a:theme xmlns:a="http://schemas.openxmlformats.org/drawingml/2006/main" name="NCStateU-horizontal-left-logo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21246</TotalTime>
  <Words>1330</Words>
  <Application>Microsoft Macintosh PowerPoint</Application>
  <PresentationFormat>On-screen Show (16:9)</PresentationFormat>
  <Paragraphs>316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NCStateU-horizontal-left-logo</vt:lpstr>
      <vt:lpstr>9177: Detecting Illicit Massage Businesses by Leveraging Graph Machine Learning</vt:lpstr>
      <vt:lpstr>Background</vt:lpstr>
      <vt:lpstr>Arc of the Work</vt:lpstr>
      <vt:lpstr>PowerPoint Presentation</vt:lpstr>
      <vt:lpstr>Practical Impact</vt:lpstr>
      <vt:lpstr>Methodology – Relational Graph Convolutional Network (RGCN)</vt:lpstr>
      <vt:lpstr>Methodology – Relational Graph Convolutional Network (RGCN)</vt:lpstr>
      <vt:lpstr>Labeling “Li, R., Tobey, M., Mayorga, M., Caltagirone, S., &amp; Ӧzaltın, O. Detecting Human Trafficking: Automated classification of online customer reviews of massage businesses. MSOM, 2023.” </vt:lpstr>
      <vt:lpstr>Data sources:</vt:lpstr>
      <vt:lpstr>Experimental Setup</vt:lpstr>
      <vt:lpstr>4 Hop Subgraph Heterogeneous Network</vt:lpstr>
      <vt:lpstr>Numerical Results</vt:lpstr>
      <vt:lpstr>Conclusion</vt:lpstr>
      <vt:lpstr>This work was supported by the Criminal Investigations Network Analysis Center (CINA) and our collaborators at the Global Emancipation Network (GEN)  Thank you!    Vasuki Garg - vgarg5@ncsu.edu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Robert Lasson</dc:creator>
  <cp:lastModifiedBy>Vasuki Garg</cp:lastModifiedBy>
  <cp:revision>312</cp:revision>
  <dcterms:created xsi:type="dcterms:W3CDTF">2017-08-16T15:07:09Z</dcterms:created>
  <dcterms:modified xsi:type="dcterms:W3CDTF">2026-01-25T17:27:55Z</dcterms:modified>
</cp:coreProperties>
</file>